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embeddedFontLst>
    <p:embeddedFont>
      <p:font typeface="Helvetica Neue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dDzhF0dzSY9uMp+ybxt0LKtUf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BD9198-21B7-4B87-99C2-312EDDB10DD2}">
  <a:tblStyle styleId="{10BD9198-21B7-4B87-99C2-312EDDB10D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669326-2CDF-4A9E-827F-4B8732C3AD7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428" y="2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c4f835c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g3ccc4f835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d02c1c4f8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98" name="Google Shape;98;g3cd02c1c4f8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d02c1c4f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cd02c1c4f8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d02c1c4f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d02c1c4f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d02c1c4f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cd02c1c4f8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4b67ba2e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41" name="Google Shape;141;g3c4b67ba2e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4b67ba2e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c4b67ba2e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cc4f835c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ccc4f835c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cc4f835c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cc4f835c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4b67ba2e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68" name="Google Shape;168;g3c4b67ba2e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4b67ba2e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c4b67ba2e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d02c1c4f8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d02c1c4f8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ubTitle" idx="1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2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>
            <a:spLocks noGrp="1"/>
          </p:cNvSpPr>
          <p:nvPr>
            <p:ph type="pic" idx="2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name="adj" fmla="val 28990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193675" dist="23000" dir="5400000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1665300" y="3746950"/>
            <a:ext cx="7302600" cy="28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</a:rPr>
              <a:t>Team 54: ECEN215 Lab Kit 2</a:t>
            </a:r>
            <a:endParaRPr sz="3600" b="1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</a:rPr>
              <a:t>Bi-Weekly Update 4</a:t>
            </a:r>
            <a:br>
              <a:rPr lang="en-US" sz="3600" b="1">
                <a:solidFill>
                  <a:srgbClr val="FFFFFF"/>
                </a:solidFill>
              </a:rPr>
            </a:br>
            <a:r>
              <a:rPr lang="en-US" sz="2455" b="1">
                <a:solidFill>
                  <a:srgbClr val="FFFFFF"/>
                </a:solidFill>
              </a:rPr>
              <a:t>Gavin Bernard</a:t>
            </a:r>
            <a:endParaRPr sz="2455" b="1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5" b="1">
                <a:solidFill>
                  <a:srgbClr val="FFFFFF"/>
                </a:solidFill>
              </a:rPr>
              <a:t>Maylun Huang</a:t>
            </a:r>
            <a:endParaRPr sz="2455" b="1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5" b="1">
                <a:solidFill>
                  <a:srgbClr val="FFFFFF"/>
                </a:solidFill>
              </a:rPr>
              <a:t>Evan Slyter</a:t>
            </a:r>
            <a:endParaRPr sz="2455" b="1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5" b="1">
                <a:solidFill>
                  <a:srgbClr val="FFFFFF"/>
                </a:solidFill>
              </a:rPr>
              <a:t>Sponsor: John Lusher</a:t>
            </a:r>
            <a:br>
              <a:rPr lang="en-US" sz="2455" b="1">
                <a:solidFill>
                  <a:srgbClr val="FFFFFF"/>
                </a:solidFill>
              </a:rPr>
            </a:br>
            <a:r>
              <a:rPr lang="en-US" sz="2455" b="1">
                <a:solidFill>
                  <a:srgbClr val="FFFFFF"/>
                </a:solidFill>
              </a:rPr>
              <a:t>TA: Hailey Ward</a:t>
            </a:r>
            <a:br>
              <a:rPr lang="en-US" sz="2455" b="1">
                <a:solidFill>
                  <a:srgbClr val="FFFFFF"/>
                </a:solidFill>
              </a:rPr>
            </a:br>
            <a:endParaRPr sz="245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216025" y="1679618"/>
            <a:ext cx="6246000" cy="49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 sz="32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an affordable, course-specific solution for distance-learning students to complete ECEN215 Labs is minimal.</a:t>
            </a:r>
            <a:endParaRPr sz="3200">
              <a:solidFill>
                <a:srgbClr val="000000"/>
              </a:solidFill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32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affordable, self-contained system that enables hands-on measurements and intuitive data displays.</a:t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Complete production of labkit for $50-$75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Easily transportable by hand.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775" y="2896701"/>
            <a:ext cx="2815776" cy="22152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7323775" y="4893925"/>
            <a:ext cx="14859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</a:rPr>
              <a:t>AD3: $379</a:t>
            </a:r>
            <a:endParaRPr sz="20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cc4f835c5_0_3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Diagram</a:t>
            </a:r>
            <a:endParaRPr/>
          </a:p>
        </p:txBody>
      </p:sp>
      <p:grpSp>
        <p:nvGrpSpPr>
          <p:cNvPr id="74" name="Google Shape;74;g3ccc4f835c5_0_3"/>
          <p:cNvGrpSpPr/>
          <p:nvPr/>
        </p:nvGrpSpPr>
        <p:grpSpPr>
          <a:xfrm>
            <a:off x="592616" y="2181207"/>
            <a:ext cx="2223922" cy="4077923"/>
            <a:chOff x="842514" y="2098738"/>
            <a:chExt cx="2051400" cy="3761574"/>
          </a:xfrm>
        </p:grpSpPr>
        <p:sp>
          <p:nvSpPr>
            <p:cNvPr id="75" name="Google Shape;75;g3ccc4f835c5_0_3"/>
            <p:cNvSpPr/>
            <p:nvPr/>
          </p:nvSpPr>
          <p:spPr>
            <a:xfrm>
              <a:off x="994425" y="2260525"/>
              <a:ext cx="1750800" cy="3510300"/>
            </a:xfrm>
            <a:prstGeom prst="roundRect">
              <a:avLst>
                <a:gd name="adj" fmla="val 12642"/>
              </a:avLst>
            </a:prstGeom>
            <a:solidFill>
              <a:srgbClr val="DFE3EE"/>
            </a:solidFill>
            <a:ln w="103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9100" tIns="99100" rIns="99100" bIns="99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17"/>
            </a:p>
          </p:txBody>
        </p:sp>
        <p:pic>
          <p:nvPicPr>
            <p:cNvPr id="76" name="Google Shape;76;g3ccc4f835c5_0_3"/>
            <p:cNvPicPr preferRelativeResize="0"/>
            <p:nvPr/>
          </p:nvPicPr>
          <p:blipFill rotWithShape="1">
            <a:blip r:embed="rId3">
              <a:alphaModFix/>
            </a:blip>
            <a:srcRect t="833"/>
            <a:stretch/>
          </p:blipFill>
          <p:spPr>
            <a:xfrm>
              <a:off x="1102150" y="2482300"/>
              <a:ext cx="1543176" cy="3171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g3ccc4f835c5_0_3"/>
            <p:cNvPicPr preferRelativeResize="0"/>
            <p:nvPr/>
          </p:nvPicPr>
          <p:blipFill rotWithShape="1">
            <a:blip r:embed="rId4">
              <a:alphaModFix/>
            </a:blip>
            <a:srcRect l="24880" t="3739" r="25259" b="4836"/>
            <a:stretch/>
          </p:blipFill>
          <p:spPr>
            <a:xfrm>
              <a:off x="842514" y="2098738"/>
              <a:ext cx="2051400" cy="37615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" name="Google Shape;78;g3ccc4f835c5_0_3"/>
          <p:cNvPicPr preferRelativeResize="0"/>
          <p:nvPr/>
        </p:nvPicPr>
        <p:blipFill rotWithShape="1">
          <a:blip r:embed="rId5">
            <a:alphaModFix/>
          </a:blip>
          <a:srcRect l="12146" t="10313" r="10884" b="5085"/>
          <a:stretch/>
        </p:blipFill>
        <p:spPr>
          <a:xfrm rot="203142">
            <a:off x="2953256" y="2210441"/>
            <a:ext cx="3386639" cy="2032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g3ccc4f835c5_0_3"/>
          <p:cNvGrpSpPr/>
          <p:nvPr/>
        </p:nvGrpSpPr>
        <p:grpSpPr>
          <a:xfrm>
            <a:off x="457206" y="1969450"/>
            <a:ext cx="6002549" cy="4505475"/>
            <a:chOff x="644550" y="1961900"/>
            <a:chExt cx="6244200" cy="4505475"/>
          </a:xfrm>
        </p:grpSpPr>
        <p:cxnSp>
          <p:nvCxnSpPr>
            <p:cNvPr id="80" name="Google Shape;80;g3ccc4f835c5_0_3"/>
            <p:cNvCxnSpPr/>
            <p:nvPr/>
          </p:nvCxnSpPr>
          <p:spPr>
            <a:xfrm>
              <a:off x="644550" y="1961900"/>
              <a:ext cx="6244200" cy="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g3ccc4f835c5_0_3"/>
            <p:cNvCxnSpPr/>
            <p:nvPr/>
          </p:nvCxnSpPr>
          <p:spPr>
            <a:xfrm>
              <a:off x="659650" y="1961900"/>
              <a:ext cx="0" cy="450540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g3ccc4f835c5_0_3"/>
            <p:cNvCxnSpPr/>
            <p:nvPr/>
          </p:nvCxnSpPr>
          <p:spPr>
            <a:xfrm rot="10800000" flipH="1">
              <a:off x="659650" y="6459875"/>
              <a:ext cx="2872500" cy="750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g3ccc4f835c5_0_3"/>
            <p:cNvCxnSpPr/>
            <p:nvPr/>
          </p:nvCxnSpPr>
          <p:spPr>
            <a:xfrm rot="10800000" flipH="1">
              <a:off x="3502050" y="4343075"/>
              <a:ext cx="7500" cy="212430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g3ccc4f835c5_0_3"/>
            <p:cNvCxnSpPr/>
            <p:nvPr/>
          </p:nvCxnSpPr>
          <p:spPr>
            <a:xfrm flipH="1">
              <a:off x="6835675" y="1969475"/>
              <a:ext cx="22800" cy="236610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g3ccc4f835c5_0_3"/>
            <p:cNvCxnSpPr/>
            <p:nvPr/>
          </p:nvCxnSpPr>
          <p:spPr>
            <a:xfrm rot="10800000">
              <a:off x="3494450" y="4343150"/>
              <a:ext cx="3348900" cy="0"/>
            </a:xfrm>
            <a:prstGeom prst="straightConnector1">
              <a:avLst/>
            </a:prstGeom>
            <a:noFill/>
            <a:ln w="19050" cap="flat" cmpd="sng">
              <a:solidFill>
                <a:srgbClr val="93C47D"/>
              </a:solidFill>
              <a:prstDash val="lgDash"/>
              <a:round/>
              <a:headEnd type="none" w="med" len="med"/>
              <a:tailEnd type="none" w="med" len="med"/>
            </a:ln>
          </p:spPr>
        </p:cxnSp>
      </p:grpSp>
      <p:pic>
        <p:nvPicPr>
          <p:cNvPr id="86" name="Google Shape;86;g3ccc4f835c5_0_3"/>
          <p:cNvPicPr preferRelativeResize="0"/>
          <p:nvPr/>
        </p:nvPicPr>
        <p:blipFill rotWithShape="1">
          <a:blip r:embed="rId6">
            <a:alphaModFix/>
          </a:blip>
          <a:srcRect l="2272" t="9343" r="2680" b="10663"/>
          <a:stretch/>
        </p:blipFill>
        <p:spPr>
          <a:xfrm rot="5400000">
            <a:off x="5428112" y="3390388"/>
            <a:ext cx="4318750" cy="151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g3ccc4f835c5_0_3"/>
          <p:cNvCxnSpPr/>
          <p:nvPr/>
        </p:nvCxnSpPr>
        <p:spPr>
          <a:xfrm>
            <a:off x="5164525" y="3590050"/>
            <a:ext cx="1853700" cy="1597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g3ccc4f835c5_0_3"/>
          <p:cNvCxnSpPr/>
          <p:nvPr/>
        </p:nvCxnSpPr>
        <p:spPr>
          <a:xfrm>
            <a:off x="5388600" y="3506875"/>
            <a:ext cx="1588800" cy="1281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g3ccc4f835c5_0_3"/>
          <p:cNvSpPr txBox="1"/>
          <p:nvPr/>
        </p:nvSpPr>
        <p:spPr>
          <a:xfrm>
            <a:off x="3310075" y="5131525"/>
            <a:ext cx="2673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2C47C"/>
                </a:solidFill>
              </a:rPr>
              <a:t>Lab Kit System</a:t>
            </a:r>
            <a:endParaRPr sz="2600">
              <a:solidFill>
                <a:srgbClr val="92C47C"/>
              </a:solidFill>
            </a:endParaRPr>
          </a:p>
        </p:txBody>
      </p:sp>
      <p:sp>
        <p:nvSpPr>
          <p:cNvPr id="90" name="Google Shape;90;g3ccc4f835c5_0_3"/>
          <p:cNvSpPr txBox="1"/>
          <p:nvPr/>
        </p:nvSpPr>
        <p:spPr>
          <a:xfrm>
            <a:off x="3694175" y="5966275"/>
            <a:ext cx="29964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9138"/>
                </a:solidFill>
              </a:rPr>
              <a:t>User’s Breadboard</a:t>
            </a:r>
            <a:endParaRPr sz="2600">
              <a:solidFill>
                <a:srgbClr val="E69138"/>
              </a:solidFill>
            </a:endParaRPr>
          </a:p>
        </p:txBody>
      </p:sp>
      <p:sp>
        <p:nvSpPr>
          <p:cNvPr id="91" name="Google Shape;91;g3ccc4f835c5_0_3"/>
          <p:cNvSpPr/>
          <p:nvPr/>
        </p:nvSpPr>
        <p:spPr>
          <a:xfrm>
            <a:off x="2816550" y="4132875"/>
            <a:ext cx="2027900" cy="604412"/>
          </a:xfrm>
          <a:custGeom>
            <a:avLst/>
            <a:gdLst/>
            <a:ahLst/>
            <a:cxnLst/>
            <a:rect l="l" t="t" r="r" b="b"/>
            <a:pathLst>
              <a:path w="81116" h="28313" extrusionOk="0">
                <a:moveTo>
                  <a:pt x="81116" y="0"/>
                </a:moveTo>
                <a:cubicBezTo>
                  <a:pt x="75381" y="4507"/>
                  <a:pt x="60222" y="23079"/>
                  <a:pt x="46703" y="27039"/>
                </a:cubicBezTo>
                <a:cubicBezTo>
                  <a:pt x="33184" y="30999"/>
                  <a:pt x="7784" y="24307"/>
                  <a:pt x="0" y="2376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lgDash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g3ccc4f835c5_0_3"/>
          <p:cNvSpPr txBox="1"/>
          <p:nvPr/>
        </p:nvSpPr>
        <p:spPr>
          <a:xfrm>
            <a:off x="4194325" y="4549263"/>
            <a:ext cx="9045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BLE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3" name="Google Shape;93;g3ccc4f835c5_0_3"/>
          <p:cNvSpPr/>
          <p:nvPr/>
        </p:nvSpPr>
        <p:spPr>
          <a:xfrm>
            <a:off x="2429950" y="1926075"/>
            <a:ext cx="1669387" cy="255121"/>
          </a:xfrm>
          <a:custGeom>
            <a:avLst/>
            <a:gdLst/>
            <a:ahLst/>
            <a:cxnLst/>
            <a:rect l="l" t="t" r="r" b="b"/>
            <a:pathLst>
              <a:path w="77019" h="13110" extrusionOk="0">
                <a:moveTo>
                  <a:pt x="77019" y="13110"/>
                </a:moveTo>
                <a:cubicBezTo>
                  <a:pt x="70328" y="10925"/>
                  <a:pt x="49708" y="0"/>
                  <a:pt x="36871" y="0"/>
                </a:cubicBezTo>
                <a:cubicBezTo>
                  <a:pt x="24035" y="0"/>
                  <a:pt x="6145" y="10925"/>
                  <a:pt x="0" y="131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lgDash"/>
            <a:round/>
            <a:headEnd type="stealth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4" name="Google Shape;94;g3ccc4f835c5_0_3"/>
          <p:cNvSpPr txBox="1"/>
          <p:nvPr/>
        </p:nvSpPr>
        <p:spPr>
          <a:xfrm>
            <a:off x="2896200" y="1926075"/>
            <a:ext cx="9045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BLE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5" name="Google Shape;95;g3ccc4f835c5_0_3"/>
          <p:cNvSpPr/>
          <p:nvPr/>
        </p:nvSpPr>
        <p:spPr>
          <a:xfrm>
            <a:off x="6690575" y="1920600"/>
            <a:ext cx="1853700" cy="4660200"/>
          </a:xfrm>
          <a:prstGeom prst="roundRect">
            <a:avLst>
              <a:gd name="adj" fmla="val 11268"/>
            </a:avLst>
          </a:prstGeom>
          <a:noFill/>
          <a:ln w="19050" cap="flat" cmpd="sng">
            <a:solidFill>
              <a:srgbClr val="E69138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d02c1c4f8_4_0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101" name="Google Shape;101;g3cd02c1c4f8_4_0"/>
          <p:cNvGraphicFramePr/>
          <p:nvPr>
            <p:extLst>
              <p:ext uri="{D42A27DB-BD31-4B8C-83A1-F6EECF244321}">
                <p14:modId xmlns:p14="http://schemas.microsoft.com/office/powerpoint/2010/main" val="3435309034"/>
              </p:ext>
            </p:extLst>
          </p:nvPr>
        </p:nvGraphicFramePr>
        <p:xfrm>
          <a:off x="580050" y="2807925"/>
          <a:ext cx="7983875" cy="227324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36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9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2/9</a:t>
                      </a:r>
                      <a:endParaRPr b="1" u="sng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2/23</a:t>
                      </a:r>
                      <a:endParaRPr b="1" u="sng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 dirty="0"/>
                        <a:t>3/16</a:t>
                      </a:r>
                      <a:endParaRPr b="1" u="sng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 dirty="0"/>
                        <a:t>3/23</a:t>
                      </a:r>
                      <a:endParaRPr b="1" u="sng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3/30</a:t>
                      </a:r>
                      <a:endParaRPr b="1" u="sng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4/20</a:t>
                      </a:r>
                      <a:endParaRPr b="1" u="sng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9650"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Finalize PCB &amp; order</a:t>
                      </a:r>
                      <a:endParaRPr sz="1200"/>
                    </a:p>
                    <a:p>
                      <a:pPr marL="274320" lvl="0" indent="-20700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Phone-MCU BLE Validation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Soldered backup PCB</a:t>
                      </a:r>
                      <a:endParaRPr sz="1200"/>
                    </a:p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Begin App Integration 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/>
                        <a:t>Integrate Signal Gen-App</a:t>
                      </a:r>
                      <a:endParaRPr sz="1200"/>
                    </a:p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/>
                        <a:t>Solder big PCB</a:t>
                      </a:r>
                      <a:endParaRPr sz="1200"/>
                    </a:p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/>
                        <a:t>Integrate Measurement-App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Integration Complete</a:t>
                      </a:r>
                      <a:endParaRPr sz="1200"/>
                    </a:p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Fully Coded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 dirty="0"/>
                        <a:t>Final Validation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432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 dirty="0"/>
                        <a:t>Final Demo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107" name="Google Shape;107;p6"/>
          <p:cNvGraphicFramePr/>
          <p:nvPr/>
        </p:nvGraphicFramePr>
        <p:xfrm>
          <a:off x="685800" y="1952075"/>
          <a:ext cx="7772400" cy="2374900"/>
        </p:xfrm>
        <a:graphic>
          <a:graphicData uri="http://schemas.openxmlformats.org/drawingml/2006/table">
            <a:tbl>
              <a:tblPr>
                <a:noFill/>
                <a:tableStyleId>{2A669326-2CDF-4A9E-827F-4B8732C3AD74}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25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Ongoing progress/problems and plans until the next presentation</a:t>
                      </a:r>
                      <a:endParaRPr sz="1800" u="none" strike="noStrike" cap="none"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Fully integrated DC power supply with App and Signal Generator</a:t>
                      </a:r>
                      <a:endParaRPr sz="1800"/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Designed, Soldered, Tested Power Supply on backup PCB</a:t>
                      </a:r>
                      <a:endParaRPr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Integrate Signal Generator on backup PCB with App</a:t>
                      </a:r>
                      <a:endParaRPr sz="1800"/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Solder Power Supply and Signal Generator on complete PCB</a:t>
                      </a:r>
                      <a:endParaRPr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13" name="Google Shape;113;p7" title="IMG_7040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00" y="1852613"/>
            <a:ext cx="7728597" cy="470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d02c1c4f8_1_1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119" name="Google Shape;119;g3cd02c1c4f8_1_1"/>
          <p:cNvGraphicFramePr/>
          <p:nvPr/>
        </p:nvGraphicFramePr>
        <p:xfrm>
          <a:off x="952500" y="2346675"/>
          <a:ext cx="72390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Resistor [Ω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Current [mA]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Output Voltage [V]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Power [mW]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109.33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1076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2,139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" name="Google Shape;120;g3cd02c1c4f8_1_1"/>
          <p:cNvSpPr txBox="1"/>
          <p:nvPr/>
        </p:nvSpPr>
        <p:spPr>
          <a:xfrm>
            <a:off x="955050" y="1942150"/>
            <a:ext cx="72285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3.3 Volt Buck Converter Testing</a:t>
            </a:r>
            <a:endParaRPr sz="2000"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g3cd02c1c4f8_1_1"/>
          <p:cNvGraphicFramePr/>
          <p:nvPr/>
        </p:nvGraphicFramePr>
        <p:xfrm>
          <a:off x="952500" y="4706650"/>
          <a:ext cx="72390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Resistor [Ω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Current [mA]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Output Voltage [V]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Power [mW]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823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1,230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494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2,440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4,802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Google Shape;122;g3cd02c1c4f8_1_1"/>
          <p:cNvSpPr txBox="1"/>
          <p:nvPr/>
        </p:nvSpPr>
        <p:spPr>
          <a:xfrm>
            <a:off x="955050" y="4327675"/>
            <a:ext cx="72285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5.0 Volt Buck Converter Testing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d02c1c4f8_1_12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128" name="Google Shape;128;g3cd02c1c4f8_1_12"/>
          <p:cNvGraphicFramePr/>
          <p:nvPr/>
        </p:nvGraphicFramePr>
        <p:xfrm>
          <a:off x="1146750" y="2095275"/>
          <a:ext cx="66515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66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Resistor [Ω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Current [mA]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Output Voltage [V]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Power [mW]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4.68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-4.68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21.9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8.82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-4.41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38.9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16.76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-4.19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70.22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31.68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-3.96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125.45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" name="Google Shape;129;g3cd02c1c4f8_1_12"/>
          <p:cNvSpPr txBox="1"/>
          <p:nvPr/>
        </p:nvSpPr>
        <p:spPr>
          <a:xfrm>
            <a:off x="957750" y="1716300"/>
            <a:ext cx="72285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-5.0 Volt  Charge-Pump Inverter Testing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0" name="Google Shape;130;g3cd02c1c4f8_1_12"/>
          <p:cNvSpPr txBox="1"/>
          <p:nvPr/>
        </p:nvSpPr>
        <p:spPr>
          <a:xfrm>
            <a:off x="957750" y="4076275"/>
            <a:ext cx="72285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Variable Voltage Range using App</a:t>
            </a:r>
            <a:endParaRPr sz="2000">
              <a:solidFill>
                <a:schemeClr val="dk1"/>
              </a:solidFill>
            </a:endParaRPr>
          </a:p>
        </p:txBody>
      </p:sp>
      <p:graphicFrame>
        <p:nvGraphicFramePr>
          <p:cNvPr id="131" name="Google Shape;131;g3cd02c1c4f8_1_12"/>
          <p:cNvGraphicFramePr/>
          <p:nvPr/>
        </p:nvGraphicFramePr>
        <p:xfrm>
          <a:off x="1146750" y="4480800"/>
          <a:ext cx="6651500" cy="237726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33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Input Voltage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Measured Output Voltage [V]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1.99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d02c1c4f8_1_35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137" name="Google Shape;137;g3cd02c1c4f8_1_35"/>
          <p:cNvGraphicFramePr/>
          <p:nvPr/>
        </p:nvGraphicFramePr>
        <p:xfrm>
          <a:off x="952500" y="2667000"/>
          <a:ext cx="7239000" cy="158484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Input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Measured Waveform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Frequency [Hz]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Sine, 1,000 Hz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Sine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900 Hz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Triangle, 500 Hz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Triangle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450 Hz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Square, 300 Hz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Square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280 Hz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" name="Google Shape;138;g3cd02c1c4f8_1_35"/>
          <p:cNvSpPr txBox="1"/>
          <p:nvPr/>
        </p:nvSpPr>
        <p:spPr>
          <a:xfrm>
            <a:off x="957750" y="2169000"/>
            <a:ext cx="72285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Signal Generator using Arduino IDE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4b67ba2ed_0_1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44" name="Google Shape;144;g3c4b67ba2ed_0_1"/>
          <p:cNvGraphicFramePr/>
          <p:nvPr/>
        </p:nvGraphicFramePr>
        <p:xfrm>
          <a:off x="685800" y="1952075"/>
          <a:ext cx="7772400" cy="2374900"/>
        </p:xfrm>
        <a:graphic>
          <a:graphicData uri="http://schemas.openxmlformats.org/drawingml/2006/table">
            <a:tbl>
              <a:tblPr>
                <a:noFill/>
                <a:tableStyleId>{2A669326-2CDF-4A9E-827F-4B8732C3AD74}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Ongoing progress/problems and plans until the next presentation</a:t>
                      </a:r>
                      <a:endParaRPr sz="1800" u="none" strike="noStrike" cap="none"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Tested code for multimeter inputs, adjusting for internal resistances</a:t>
                      </a:r>
                      <a:endParaRPr sz="1800" u="none" strike="noStrike" cap="none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On-going soldering parts onto combined PCB</a:t>
                      </a:r>
                      <a:endParaRPr sz="1800"/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On-going mobile app code for multimeter selection</a:t>
                      </a:r>
                      <a:endParaRPr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4b67ba2ed_0_11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50" name="Google Shape;150;g3c4b67ba2ed_0_11"/>
          <p:cNvGraphicFramePr/>
          <p:nvPr/>
        </p:nvGraphicFramePr>
        <p:xfrm>
          <a:off x="4746100" y="3172938"/>
          <a:ext cx="40497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32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Voltmeter</a:t>
                      </a:r>
                      <a:endParaRPr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Raw Input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Expected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Actual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~-4.95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~-0.07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~4.94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1" name="Google Shape;151;g3c4b67ba2e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00" y="2005138"/>
            <a:ext cx="4441300" cy="4316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c4f835c5_0_50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57" name="Google Shape;157;g3ccc4f835c5_0_50"/>
          <p:cNvGraphicFramePr/>
          <p:nvPr/>
        </p:nvGraphicFramePr>
        <p:xfrm>
          <a:off x="4735850" y="3163713"/>
          <a:ext cx="40497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32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Ohmmeter</a:t>
                      </a:r>
                      <a:endParaRPr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Raw Input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Expected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Actual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4950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9900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8" name="Google Shape;158;g3ccc4f835c5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50" y="2005150"/>
            <a:ext cx="4049700" cy="429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c4f835c5_0_57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64" name="Google Shape;164;g3ccc4f835c5_0_57"/>
          <p:cNvGraphicFramePr/>
          <p:nvPr/>
        </p:nvGraphicFramePr>
        <p:xfrm>
          <a:off x="4637100" y="3247063"/>
          <a:ext cx="4049700" cy="1981050"/>
        </p:xfrm>
        <a:graphic>
          <a:graphicData uri="http://schemas.openxmlformats.org/drawingml/2006/table">
            <a:tbl>
              <a:tblPr>
                <a:noFill/>
                <a:tableStyleId>{10BD9198-21B7-4B87-99C2-312EDDB10DD2}</a:tableStyleId>
              </a:tblPr>
              <a:tblGrid>
                <a:gridCol w="132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Ammeter</a:t>
                      </a:r>
                      <a:endParaRPr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Raw Input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Expected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Actual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0.083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0.487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5" name="Google Shape;165;g3ccc4f835c5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75" y="2005149"/>
            <a:ext cx="3865075" cy="446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4b67ba2ed_0_17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graphicFrame>
        <p:nvGraphicFramePr>
          <p:cNvPr id="171" name="Google Shape;171;g3c4b67ba2ed_0_17"/>
          <p:cNvGraphicFramePr/>
          <p:nvPr/>
        </p:nvGraphicFramePr>
        <p:xfrm>
          <a:off x="685800" y="1952075"/>
          <a:ext cx="7772400" cy="2374900"/>
        </p:xfrm>
        <a:graphic>
          <a:graphicData uri="http://schemas.openxmlformats.org/drawingml/2006/table">
            <a:tbl>
              <a:tblPr>
                <a:noFill/>
                <a:tableStyleId>{2A669326-2CDF-4A9E-827F-4B8732C3AD74}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8</a:t>
                      </a:r>
                      <a:r>
                        <a:rPr lang="en-US" sz="1800" u="none" strike="noStrike" cap="non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Ongoing progress/problems and plans until the next presentation</a:t>
                      </a:r>
                      <a:endParaRPr sz="1800" u="none" strike="noStrike" cap="none"/>
                    </a:p>
                  </a:txBody>
                  <a:tcPr marL="91450" marR="91450" marT="45750" marB="457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-Power supply fully integrated with app.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-Edited lab manual for lab 8.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-Verified all commands come across bluetooth successfully.</a:t>
                      </a:r>
                      <a:endParaRPr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-Continue integrating subsystems once they’re ready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-Commands occasionally not executing on power supply.</a:t>
                      </a:r>
                      <a:endParaRPr sz="1800"/>
                    </a:p>
                  </a:txBody>
                  <a:tcPr marL="91450" marR="91450" marT="45750" marB="45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4b67ba2ed_0_27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177" name="Google Shape;177;g3c4b67ba2ed_0_27"/>
          <p:cNvPicPr preferRelativeResize="0"/>
          <p:nvPr/>
        </p:nvPicPr>
        <p:blipFill rotWithShape="1">
          <a:blip r:embed="rId3">
            <a:alphaModFix/>
          </a:blip>
          <a:srcRect b="29063"/>
          <a:stretch/>
        </p:blipFill>
        <p:spPr>
          <a:xfrm>
            <a:off x="74325" y="1852747"/>
            <a:ext cx="2159275" cy="33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c4b67ba2ed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1775" y="1852750"/>
            <a:ext cx="2019875" cy="33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c4b67ba2ed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7450" y="1852738"/>
            <a:ext cx="2515197" cy="470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c4b67ba2ed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8450" y="1919852"/>
            <a:ext cx="1832600" cy="313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c4b67ba2ed_0_27"/>
          <p:cNvSpPr txBox="1"/>
          <p:nvPr/>
        </p:nvSpPr>
        <p:spPr>
          <a:xfrm>
            <a:off x="129750" y="5405975"/>
            <a:ext cx="4000500" cy="1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Commands sometimes not registering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Doesn't seem time based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Hopefully Dev Board issue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02c1c4f8_2_62"/>
          <p:cNvSpPr txBox="1">
            <a:spLocks noGrp="1"/>
          </p:cNvSpPr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187" name="Google Shape;187;g3cd02c1c4f8_2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38"/>
            <a:ext cx="3699803" cy="4700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cd02c1c4f8_2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4603" y="2005138"/>
            <a:ext cx="2450667" cy="470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cd02c1c4f8_2_62"/>
          <p:cNvSpPr txBox="1"/>
          <p:nvPr/>
        </p:nvSpPr>
        <p:spPr>
          <a:xfrm>
            <a:off x="6811475" y="2420550"/>
            <a:ext cx="1875300" cy="28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Lab 8, AND/OR chips need 3 inputs.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Had to add section for voltage dividing.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0" y="1852925"/>
            <a:ext cx="8983101" cy="355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>
            <a:spLocks noGrp="1"/>
          </p:cNvSpPr>
          <p:nvPr>
            <p:ph type="title"/>
          </p:nvPr>
        </p:nvSpPr>
        <p:spPr>
          <a:xfrm>
            <a:off x="2428275" y="9622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Validation Plan</a:t>
            </a:r>
            <a:endParaRPr/>
          </a:p>
        </p:txBody>
      </p:sp>
      <p:pic>
        <p:nvPicPr>
          <p:cNvPr id="201" name="Google Shape;2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350" y="725475"/>
            <a:ext cx="5941725" cy="605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title" idx="4294967295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On-screen Show (4:3)</PresentationFormat>
  <Paragraphs>213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Helvetica Neue</vt:lpstr>
      <vt:lpstr>Arial</vt:lpstr>
      <vt:lpstr>Calibri</vt:lpstr>
      <vt:lpstr>Office Theme</vt:lpstr>
      <vt:lpstr>PowerPoint Presentation</vt:lpstr>
      <vt:lpstr>Project Summary</vt:lpstr>
      <vt:lpstr>Integrated System Diagram</vt:lpstr>
      <vt:lpstr>Project Timeline </vt:lpstr>
      <vt:lpstr>Power Supply/Signal Generator Gavin Bernard</vt:lpstr>
      <vt:lpstr>Power Supply/Signal Generator Gavin Bernard</vt:lpstr>
      <vt:lpstr>Power Supply Gavin Bernard</vt:lpstr>
      <vt:lpstr>Power Supply Gavin Bernard</vt:lpstr>
      <vt:lpstr>Signal Generator Gavin Bernard</vt:lpstr>
      <vt:lpstr>Measurement Subsystem Maylun Huang</vt:lpstr>
      <vt:lpstr>Measurement Subsystem Maylun Huang</vt:lpstr>
      <vt:lpstr>Measurement Subsystem Maylun Huang</vt:lpstr>
      <vt:lpstr>Measurement Subsystem Maylun Huang</vt:lpstr>
      <vt:lpstr>Mobile App Evan Slyter</vt:lpstr>
      <vt:lpstr>Mobile App Evan Slyter</vt:lpstr>
      <vt:lpstr>Mobile App Evan Slyter</vt:lpstr>
      <vt:lpstr>Execution Plan</vt:lpstr>
      <vt:lpstr>System Validation Plan</vt:lpstr>
      <vt:lpstr>  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  <cp:lastModifiedBy>Evan Slyter</cp:lastModifiedBy>
  <cp:revision>1</cp:revision>
  <dcterms:created xsi:type="dcterms:W3CDTF">2013-06-18T16:37:55Z</dcterms:created>
  <dcterms:modified xsi:type="dcterms:W3CDTF">2026-03-04T22:10:06Z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4,5,6,8,9</vt:lpwstr>
  </property>
</Properties>
</file>