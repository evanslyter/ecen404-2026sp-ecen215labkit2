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embeddedFontLst>
    <p:embeddedFont>
      <p:font typeface="Helvetica Ne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iy/08uMbNlOSn9AJQtN7aZSSSw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9610D3-897D-4B80-90FD-78A70E542143}">
  <a:tblStyle styleId="{E39610D3-897D-4B80-90FD-78A70E5421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762B96D-01B6-4595-ACEC-A785D2A877C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HelveticaNeue-regular.fntdata"/><Relationship Id="rId21" Type="http://schemas.openxmlformats.org/officeDocument/2006/relationships/slide" Target="slides/slide15.xml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HelveticaNeue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  <p:sp>
        <p:nvSpPr>
          <p:cNvPr id="56" name="Google Shape;5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63" name="Google Shape;6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8" name="Google Shape;8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d07fd23c5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bd07fd23c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d07fd23c5_0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bd07fd23c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cb7a28fc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2" name="Google Shape;112;g3bcb7a28fcd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cb7a28fcd_0_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bcb7a28fc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cb7a28fc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5" name="Google Shape;125;g3bcb7a28fcd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b7a28fcd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bcb7a28fc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d07fd23c5_1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bd07fd23c5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2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>
            <p:ph type="ctrTitle"/>
          </p:nvPr>
        </p:nvSpPr>
        <p:spPr>
          <a:xfrm>
            <a:off x="1665300" y="3555800"/>
            <a:ext cx="7302600" cy="28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</a:t>
            </a:r>
            <a:r>
              <a:rPr lang="en-US"/>
              <a:t>eam 54: ECEN215 Lab Kit 2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/>
              <a:t>Bi-Weekly Update 2</a:t>
            </a:r>
            <a:br>
              <a:rPr lang="en-US"/>
            </a:br>
            <a:r>
              <a:rPr lang="en-US" sz="2455"/>
              <a:t>Gavin Bernard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Maylun Huang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Evan Slyter</a:t>
            </a:r>
            <a:endParaRPr sz="2455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62932"/>
              <a:buFont typeface="Arial"/>
              <a:buNone/>
            </a:pPr>
            <a:r>
              <a:rPr lang="en-US" sz="2455"/>
              <a:t>Sponsor: John Lusher</a:t>
            </a:r>
            <a:br>
              <a:rPr lang="en-US" sz="2455"/>
            </a:br>
            <a:r>
              <a:rPr lang="en-US" sz="2455"/>
              <a:t>TA: Hailey Ward</a:t>
            </a:r>
            <a:br>
              <a:rPr lang="en-US" sz="2455"/>
            </a:br>
            <a:endParaRPr sz="2455"/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334325" y="104905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Summary</a:t>
            </a:r>
            <a:endParaRPr b="1" sz="3200">
              <a:solidFill>
                <a:srgbClr val="000000"/>
              </a:solidFill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334325" y="1852800"/>
            <a:ext cx="5209500" cy="5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statement:</a:t>
            </a:r>
            <a:endParaRPr sz="32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Access to an affordable, course-specific solution for distance-learning students to complete ECEN215 Labs is minimal.</a:t>
            </a:r>
            <a:endParaRPr sz="3200"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 sz="3200">
              <a:solidFill>
                <a:srgbClr val="00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affordable, self-contained system that enables hands-on measurements and intuitive data displays.</a:t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Complete production of labkit for 50-75 dollars.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Easily transportable by hand.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7" name="Google Shape;6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3100" y="2904351"/>
            <a:ext cx="2815776" cy="221522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/>
        </p:nvSpPr>
        <p:spPr>
          <a:xfrm>
            <a:off x="7323775" y="4588100"/>
            <a:ext cx="1485900" cy="4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</a:rPr>
              <a:t>AD3: $379</a:t>
            </a:r>
            <a:endParaRPr b="1"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/>
        </p:nvSpPr>
        <p:spPr>
          <a:xfrm>
            <a:off x="457200" y="823036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Project/</a:t>
            </a:r>
            <a:r>
              <a:rPr b="1" lang="en-US" sz="3200">
                <a:solidFill>
                  <a:srgbClr val="000000"/>
                </a:solidFill>
              </a:rPr>
              <a:t>System Overview</a:t>
            </a:r>
            <a:endParaRPr b="1" sz="3200">
              <a:solidFill>
                <a:srgbClr val="000000"/>
              </a:solidFill>
            </a:endParaRPr>
          </a:p>
        </p:txBody>
      </p:sp>
      <p:pic>
        <p:nvPicPr>
          <p:cNvPr id="74" name="Google Shape;7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1825" y="1626725"/>
            <a:ext cx="6620350" cy="28751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5" name="Google Shape;75;p3"/>
          <p:cNvGraphicFramePr/>
          <p:nvPr/>
        </p:nvGraphicFramePr>
        <p:xfrm>
          <a:off x="1670300" y="477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{E39610D3-897D-4B80-90FD-78A70E542143}</a:tableStyleId>
              </a:tblPr>
              <a:tblGrid>
                <a:gridCol w="2900250"/>
                <a:gridCol w="2903150"/>
              </a:tblGrid>
              <a:tr h="295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Subsystem</a:t>
                      </a:r>
                      <a:endParaRPr b="1"/>
                    </a:p>
                  </a:txBody>
                  <a:tcPr marT="45700" marB="45700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Responsibility</a:t>
                      </a:r>
                      <a:endParaRPr b="1"/>
                    </a:p>
                  </a:txBody>
                  <a:tcPr marT="45700" marB="45700" marR="91425" marL="91425">
                    <a:solidFill>
                      <a:srgbClr val="D9D9D9"/>
                    </a:solidFill>
                  </a:tcPr>
                </a:tc>
              </a:tr>
              <a:tr h="295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Power Supply</a:t>
                      </a:r>
                      <a:endParaRPr/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Gavin Bernard</a:t>
                      </a:r>
                      <a:endParaRPr/>
                    </a:p>
                  </a:txBody>
                  <a:tcPr marT="45700" marB="45700" marR="91425" marL="91425"/>
                </a:tc>
              </a:tr>
              <a:tr h="295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Signal Generator</a:t>
                      </a:r>
                      <a:endParaRPr/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Gavin Bernard</a:t>
                      </a:r>
                      <a:endParaRPr/>
                    </a:p>
                  </a:txBody>
                  <a:tcPr marT="45700" marB="45700" marR="91425" marL="91425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Mobile Application</a:t>
                      </a:r>
                      <a:endParaRPr/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Evan Slyter</a:t>
                      </a:r>
                      <a:endParaRPr/>
                    </a:p>
                  </a:txBody>
                  <a:tcPr marT="45700" marB="45700" marR="91425" marL="91425"/>
                </a:tc>
              </a:tr>
              <a:tr h="295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Multimeter</a:t>
                      </a:r>
                      <a:endParaRPr/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Maylun Huang</a:t>
                      </a:r>
                      <a:endParaRPr/>
                    </a:p>
                  </a:txBody>
                  <a:tcPr marT="45700" marB="45700" marR="91425" marL="91425"/>
                </a:tc>
              </a:tr>
              <a:tr h="276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Oscilloscope</a:t>
                      </a:r>
                      <a:endParaRPr/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Maylun Huang</a:t>
                      </a:r>
                      <a:endParaRPr/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76" name="Google Shape;76;p3"/>
          <p:cNvSpPr/>
          <p:nvPr/>
        </p:nvSpPr>
        <p:spPr>
          <a:xfrm>
            <a:off x="3369100" y="1603925"/>
            <a:ext cx="4722300" cy="28980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1261825" y="1697525"/>
            <a:ext cx="2049000" cy="2039400"/>
          </a:xfrm>
          <a:prstGeom prst="rect">
            <a:avLst/>
          </a:prstGeom>
          <a:noFill/>
          <a:ln cap="flat" cmpd="sng" w="28575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 txBox="1"/>
          <p:nvPr/>
        </p:nvSpPr>
        <p:spPr>
          <a:xfrm>
            <a:off x="8046525" y="1259075"/>
            <a:ext cx="8781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6AA84F"/>
                </a:solidFill>
              </a:rPr>
              <a:t>PCB</a:t>
            </a:r>
            <a:endParaRPr b="1" sz="2200">
              <a:solidFill>
                <a:srgbClr val="6AA84F"/>
              </a:solidFill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292650" y="3678400"/>
            <a:ext cx="13791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69138"/>
                </a:solidFill>
              </a:rPr>
              <a:t>Software</a:t>
            </a:r>
            <a:endParaRPr b="1" sz="2200">
              <a:solidFill>
                <a:srgbClr val="E6913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 txBox="1"/>
          <p:nvPr>
            <p:ph type="title"/>
          </p:nvPr>
        </p:nvSpPr>
        <p:spPr>
          <a:xfrm>
            <a:off x="457200" y="11565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Project Timeline</a:t>
            </a:r>
            <a:endParaRPr/>
          </a:p>
        </p:txBody>
      </p:sp>
      <p:graphicFrame>
        <p:nvGraphicFramePr>
          <p:cNvPr id="85" name="Google Shape;85;p4"/>
          <p:cNvGraphicFramePr/>
          <p:nvPr/>
        </p:nvGraphicFramePr>
        <p:xfrm>
          <a:off x="726200" y="291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{E39610D3-897D-4B80-90FD-78A70E542143}</a:tableStyleId>
              </a:tblPr>
              <a:tblGrid>
                <a:gridCol w="1314150"/>
                <a:gridCol w="1373800"/>
                <a:gridCol w="1292975"/>
                <a:gridCol w="1353300"/>
                <a:gridCol w="1212775"/>
                <a:gridCol w="1144575"/>
              </a:tblGrid>
              <a:tr h="50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1/26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2/9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2/23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3/16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3/30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u="sng"/>
                        <a:t>4/20</a:t>
                      </a:r>
                      <a:endParaRPr b="1" u="sng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165875"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Validate subsystems</a:t>
                      </a:r>
                      <a:endParaRPr sz="1200"/>
                    </a:p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100"/>
                        <a:t>Phone-Phone BLE </a:t>
                      </a:r>
                      <a:r>
                        <a:rPr lang="en-US" sz="1200"/>
                        <a:t>Validation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Finalize PCB &amp; order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498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Soldered PCB</a:t>
                      </a:r>
                      <a:endParaRPr sz="1200"/>
                    </a:p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App Integration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Integration Complete</a:t>
                      </a:r>
                      <a:endParaRPr sz="1200"/>
                    </a:p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Fully Coded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Final Validation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13359" lvl="0" marL="27432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Char char="●"/>
                      </a:pPr>
                      <a:r>
                        <a:rPr lang="en-US" sz="1200"/>
                        <a:t>Final Demo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Gavin Bernard</a:t>
            </a:r>
            <a:endParaRPr sz="2980"/>
          </a:p>
        </p:txBody>
      </p:sp>
      <p:graphicFrame>
        <p:nvGraphicFramePr>
          <p:cNvPr id="91" name="Google Shape;91;p5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{2762B96D-01B6-4595-ACEC-A785D2A877C2}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>
                          <a:solidFill>
                            <a:srgbClr val="C20000"/>
                          </a:solidFill>
                        </a:rPr>
                        <a:t>20</a:t>
                      </a:r>
                      <a:r>
                        <a:rPr lang="en-US" sz="1800" u="none" cap="none" strike="noStrike">
                          <a:solidFill>
                            <a:srgbClr val="C2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Verification of both s</a:t>
                      </a:r>
                      <a:r>
                        <a:rPr lang="en-US" sz="1800"/>
                        <a:t>ubsystems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Created PCB for </a:t>
                      </a:r>
                      <a:r>
                        <a:rPr lang="en-US" sz="1800"/>
                        <a:t>ongoing</a:t>
                      </a:r>
                      <a:r>
                        <a:rPr lang="en-US" sz="1800"/>
                        <a:t> integration with oscillator and </a:t>
                      </a:r>
                      <a:r>
                        <a:rPr lang="en-US" sz="1800"/>
                        <a:t>multimeter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Integrate PCB and Order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Solder and code over Design Blitz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>
            <p:ph type="title"/>
          </p:nvPr>
        </p:nvSpPr>
        <p:spPr>
          <a:xfrm>
            <a:off x="457200" y="1049338"/>
            <a:ext cx="8229600" cy="803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Gavin Bernard</a:t>
            </a:r>
            <a:endParaRPr sz="2980"/>
          </a:p>
        </p:txBody>
      </p:sp>
      <p:pic>
        <p:nvPicPr>
          <p:cNvPr id="97" name="Google Shape;9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319" y="1852625"/>
            <a:ext cx="5633369" cy="50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d07fd23c5_0_9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Gavin Bernard</a:t>
            </a:r>
            <a:endParaRPr sz="2980"/>
          </a:p>
        </p:txBody>
      </p:sp>
      <p:pic>
        <p:nvPicPr>
          <p:cNvPr id="103" name="Google Shape;103;g3bd07fd23c5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95145"/>
            <a:ext cx="9144000" cy="4276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d07fd23c5_0_1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Power Supply/Signal Generator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Gavin Bernard</a:t>
            </a:r>
            <a:endParaRPr sz="2980"/>
          </a:p>
        </p:txBody>
      </p:sp>
      <p:pic>
        <p:nvPicPr>
          <p:cNvPr id="109" name="Google Shape;109;g3bd07fd23c5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400" y="1852738"/>
            <a:ext cx="7063195" cy="4700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cb7a28fcd_0_1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Measurement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Maylun Huang</a:t>
            </a:r>
            <a:endParaRPr sz="2980"/>
          </a:p>
        </p:txBody>
      </p:sp>
      <p:graphicFrame>
        <p:nvGraphicFramePr>
          <p:cNvPr id="115" name="Google Shape;115;g3bcb7a28fcd_0_12"/>
          <p:cNvGraphicFramePr/>
          <p:nvPr/>
        </p:nvGraphicFramePr>
        <p:xfrm>
          <a:off x="685800" y="210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{2762B96D-01B6-4595-ACEC-A785D2A877C2}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>
                          <a:solidFill>
                            <a:srgbClr val="C20000"/>
                          </a:solidFill>
                        </a:rPr>
                        <a:t>12</a:t>
                      </a:r>
                      <a:r>
                        <a:rPr lang="en-US" sz="1800" u="none" cap="none" strike="noStrike">
                          <a:solidFill>
                            <a:srgbClr val="C2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Subsystem validation</a:t>
                      </a:r>
                      <a:endParaRPr sz="1800"/>
                    </a:p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Multimeter adjustments to </a:t>
                      </a:r>
                      <a:r>
                        <a:rPr lang="en-US" sz="1800"/>
                        <a:t>improve</a:t>
                      </a:r>
                      <a:r>
                        <a:rPr lang="en-US" sz="1800"/>
                        <a:t> cost &amp; space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Integrate PCB &amp; order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cb7a28fcd_0_18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Measurement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Maylun Huang</a:t>
            </a:r>
            <a:endParaRPr sz="2980"/>
          </a:p>
        </p:txBody>
      </p:sp>
      <p:sp>
        <p:nvSpPr>
          <p:cNvPr id="121" name="Google Shape;121;g3bcb7a28fcd_0_18"/>
          <p:cNvSpPr txBox="1"/>
          <p:nvPr>
            <p:ph idx="1" type="body"/>
          </p:nvPr>
        </p:nvSpPr>
        <p:spPr>
          <a:xfrm>
            <a:off x="6138925" y="1952525"/>
            <a:ext cx="2868900" cy="48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4160" lvl="0" marL="27432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Switched out op-amp ($3.22 → $1.68 ea.)</a:t>
            </a:r>
            <a:endParaRPr sz="2000"/>
          </a:p>
          <a:p>
            <a:pPr indent="-264160" lvl="0" marL="27432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Removed 2 op-amp buffers </a:t>
            </a:r>
            <a:endParaRPr sz="2000"/>
          </a:p>
          <a:p>
            <a:pPr indent="-264160" lvl="0" marL="27432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Combined multimeter inputs</a:t>
            </a:r>
            <a:endParaRPr sz="2000"/>
          </a:p>
          <a:p>
            <a:pPr indent="-264160" lvl="0" marL="27432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Improved ohmmeter range from 100-~8.5kΩ to 47-10kΩ+</a:t>
            </a:r>
            <a:endParaRPr sz="2000"/>
          </a:p>
          <a:p>
            <a:pPr indent="-264160" lvl="0" marL="27432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•"/>
            </a:pPr>
            <a:r>
              <a:rPr lang="en-US" sz="2000"/>
              <a:t>PCB wiring in progress</a:t>
            </a:r>
            <a:endParaRPr sz="2000"/>
          </a:p>
        </p:txBody>
      </p:sp>
      <p:pic>
        <p:nvPicPr>
          <p:cNvPr id="122" name="Google Shape;122;g3bcb7a28fcd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13100"/>
            <a:ext cx="5986524" cy="485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cb7a28fcd_0_2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Evan Slyter</a:t>
            </a:r>
            <a:endParaRPr sz="2980"/>
          </a:p>
        </p:txBody>
      </p:sp>
      <p:graphicFrame>
        <p:nvGraphicFramePr>
          <p:cNvPr id="128" name="Google Shape;128;g3bcb7a28fcd_0_24"/>
          <p:cNvGraphicFramePr/>
          <p:nvPr/>
        </p:nvGraphicFramePr>
        <p:xfrm>
          <a:off x="6858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{2762B96D-01B6-4595-ACEC-A785D2A877C2}</a:tableStyleId>
              </a:tblPr>
              <a:tblGrid>
                <a:gridCol w="3886200"/>
                <a:gridCol w="38862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last update  </a:t>
                      </a:r>
                      <a:r>
                        <a:rPr lang="en-US" sz="1800">
                          <a:solidFill>
                            <a:srgbClr val="C20000"/>
                          </a:solidFill>
                        </a:rPr>
                        <a:t>8</a:t>
                      </a:r>
                      <a:r>
                        <a:rPr lang="en-US" sz="1800" u="none" cap="none" strike="noStrike">
                          <a:solidFill>
                            <a:srgbClr val="C2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2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-Successfully connected to BLE emitter in </a:t>
                      </a:r>
                      <a:r>
                        <a:rPr lang="en-US" sz="1800"/>
                        <a:t>preparation for connecting to MCU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-Begin writing code to be used on MCU once it arrives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" name="Google Shape;129;g3bcb7a28fcd_0_24"/>
          <p:cNvSpPr txBox="1"/>
          <p:nvPr/>
        </p:nvSpPr>
        <p:spPr>
          <a:xfrm>
            <a:off x="544945" y="4599710"/>
            <a:ext cx="8405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cb7a28fcd_0_30"/>
          <p:cNvSpPr txBox="1"/>
          <p:nvPr>
            <p:ph type="title"/>
          </p:nvPr>
        </p:nvSpPr>
        <p:spPr>
          <a:xfrm>
            <a:off x="457200" y="86178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Mobile App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720"/>
              <a:t>Evan Slyter</a:t>
            </a:r>
            <a:endParaRPr sz="298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5" name="Google Shape;135;g3bcb7a28fcd_0_30"/>
          <p:cNvSpPr txBox="1"/>
          <p:nvPr/>
        </p:nvSpPr>
        <p:spPr>
          <a:xfrm>
            <a:off x="1927123" y="3382297"/>
            <a:ext cx="497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g3bcb7a28fcd_0_30"/>
          <p:cNvPicPr preferRelativeResize="0"/>
          <p:nvPr/>
        </p:nvPicPr>
        <p:blipFill rotWithShape="1">
          <a:blip r:embed="rId3">
            <a:alphaModFix/>
          </a:blip>
          <a:srcRect b="46509" l="0" r="0" t="0"/>
          <a:stretch/>
        </p:blipFill>
        <p:spPr>
          <a:xfrm>
            <a:off x="80738" y="1242075"/>
            <a:ext cx="2187364" cy="2574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bcb7a28fcd_0_30"/>
          <p:cNvPicPr preferRelativeResize="0"/>
          <p:nvPr/>
        </p:nvPicPr>
        <p:blipFill rotWithShape="1">
          <a:blip r:embed="rId4">
            <a:alphaModFix/>
          </a:blip>
          <a:srcRect b="42732" l="0" r="0" t="0"/>
          <a:stretch/>
        </p:blipFill>
        <p:spPr>
          <a:xfrm>
            <a:off x="31375" y="3984854"/>
            <a:ext cx="2286100" cy="28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bcb7a28fcd_0_30"/>
          <p:cNvPicPr preferRelativeResize="0"/>
          <p:nvPr/>
        </p:nvPicPr>
        <p:blipFill rotWithShape="1">
          <a:blip r:embed="rId5">
            <a:alphaModFix/>
          </a:blip>
          <a:srcRect b="42814" l="0" r="0" t="0"/>
          <a:stretch/>
        </p:blipFill>
        <p:spPr>
          <a:xfrm>
            <a:off x="2375000" y="4129381"/>
            <a:ext cx="2055350" cy="2574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bcb7a28fcd_0_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23374" y="2188150"/>
            <a:ext cx="2055350" cy="446815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bcb7a28fcd_0_30"/>
          <p:cNvSpPr txBox="1"/>
          <p:nvPr/>
        </p:nvSpPr>
        <p:spPr>
          <a:xfrm>
            <a:off x="6790725" y="3115575"/>
            <a:ext cx="2226300" cy="18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-Many security issues to get the app to accept a connection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-Currently connecting app to phone instead of app to MCU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457200" y="8967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46" name="Google Shape;14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00" y="1898752"/>
            <a:ext cx="8839198" cy="3138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d07fd23c5_1_7"/>
          <p:cNvSpPr txBox="1"/>
          <p:nvPr>
            <p:ph type="title"/>
          </p:nvPr>
        </p:nvSpPr>
        <p:spPr>
          <a:xfrm>
            <a:off x="1848700" y="26220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pic>
        <p:nvPicPr>
          <p:cNvPr id="152" name="Google Shape;152;g3bd07fd23c5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913" y="877350"/>
            <a:ext cx="6910175" cy="57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idx="4294967295" type="title"/>
          </p:nvPr>
        </p:nvSpPr>
        <p:spPr>
          <a:xfrm>
            <a:off x="457200" y="1608138"/>
            <a:ext cx="8229600" cy="4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slide – thank your audience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Nowka, Kevin J.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adingOrderVerifiedPages">
    <vt:lpwstr>4</vt:lpwstr>
  </property>
</Properties>
</file>