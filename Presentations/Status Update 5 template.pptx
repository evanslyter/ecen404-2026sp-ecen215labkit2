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9144000"/>
  <p:notesSz cx="6858000" cy="9144000"/>
  <p:embeddedFontLst>
    <p:embeddedFont>
      <p:font typeface="Helvetica Neue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hlfdxmwkwJ8BiGR/r524xe5Zup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0B8513-1ABD-4C1C-AE81-AFDD08C9CCE2}">
  <a:tblStyle styleId="{4A0B8513-1ABD-4C1C-AE81-AFDD08C9CC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2406449-4949-4EC4-BF0E-A99273A2D69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HelveticaNeue-bold.fntdata"/><Relationship Id="rId10" Type="http://schemas.openxmlformats.org/officeDocument/2006/relationships/slide" Target="slides/slide4.xml"/><Relationship Id="rId32" Type="http://schemas.openxmlformats.org/officeDocument/2006/relationships/font" Target="fonts/HelveticaNeue-regular.fntdata"/><Relationship Id="rId13" Type="http://schemas.openxmlformats.org/officeDocument/2006/relationships/slide" Target="slides/slide7.xml"/><Relationship Id="rId35" Type="http://schemas.openxmlformats.org/officeDocument/2006/relationships/font" Target="fonts/HelveticaNeue-boldItalic.fntdata"/><Relationship Id="rId12" Type="http://schemas.openxmlformats.org/officeDocument/2006/relationships/slide" Target="slides/slide6.xml"/><Relationship Id="rId34" Type="http://schemas.openxmlformats.org/officeDocument/2006/relationships/font" Target="fonts/HelveticaNeue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1" name="Google Shape;7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26df91652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d26df9165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6df91652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d26df9165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26df91652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d26df9165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26df91652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d26df9165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26df91652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d26df9165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25b0fd9a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6" name="Google Shape;146;g3d25b0fd9ad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25b0fd9ad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d25b0fd9a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25b0fd9ad_0_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d25b0fd9a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25b0fd9ad_0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d25b0fd9a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25b0fd9a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4" name="Google Shape;174;g3d25b0fd9ad_0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25b0fd9ad_0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d25b0fd9a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a24438717_0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da2443871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a24438717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da2443871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a24438717_0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da2443871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a24438717_0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da2443871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a24438717_0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da2443871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5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 txBox="1"/>
          <p:nvPr/>
        </p:nvSpPr>
        <p:spPr>
          <a:xfrm>
            <a:off x="1665300" y="3746950"/>
            <a:ext cx="73026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</a:rPr>
              <a:t>Team 54: ECEN215 Lab Kit 2</a:t>
            </a:r>
            <a:endParaRPr b="1" sz="3600">
              <a:solidFill>
                <a:srgbClr val="FFFFFF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</a:rPr>
              <a:t>Bi-Weekly Update 5</a:t>
            </a:r>
            <a:br>
              <a:rPr b="1" lang="en-US" sz="3600">
                <a:solidFill>
                  <a:srgbClr val="FFFFFF"/>
                </a:solidFill>
              </a:rPr>
            </a:br>
            <a:r>
              <a:rPr b="1" lang="en-US" sz="2455">
                <a:solidFill>
                  <a:srgbClr val="FFFFFF"/>
                </a:solidFill>
              </a:rPr>
              <a:t>Gavin Bernard</a:t>
            </a:r>
            <a:endParaRPr b="1" sz="2455">
              <a:solidFill>
                <a:srgbClr val="FFFFFF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5">
                <a:solidFill>
                  <a:srgbClr val="FFFFFF"/>
                </a:solidFill>
              </a:rPr>
              <a:t>Maylun Huang</a:t>
            </a:r>
            <a:endParaRPr b="1" sz="2455">
              <a:solidFill>
                <a:srgbClr val="FFFFFF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5">
                <a:solidFill>
                  <a:srgbClr val="FFFFFF"/>
                </a:solidFill>
              </a:rPr>
              <a:t>Evan Slyter</a:t>
            </a:r>
            <a:endParaRPr b="1" sz="2455">
              <a:solidFill>
                <a:srgbClr val="FFFFFF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5">
                <a:solidFill>
                  <a:srgbClr val="FFFFFF"/>
                </a:solidFill>
              </a:rPr>
              <a:t>Sponsor: John Lusher</a:t>
            </a:r>
            <a:br>
              <a:rPr b="1" lang="en-US" sz="2455">
                <a:solidFill>
                  <a:srgbClr val="FFFFFF"/>
                </a:solidFill>
              </a:rPr>
            </a:br>
            <a:r>
              <a:rPr b="1" lang="en-US" sz="2455">
                <a:solidFill>
                  <a:srgbClr val="FFFFFF"/>
                </a:solidFill>
              </a:rPr>
              <a:t>TA: Hailey Ward</a:t>
            </a:r>
            <a:br>
              <a:rPr b="1" lang="en-US" sz="2455">
                <a:solidFill>
                  <a:srgbClr val="FFFFFF"/>
                </a:solidFill>
              </a:rPr>
            </a:br>
            <a:endParaRPr b="1" sz="2455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/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</a:rPr>
              <a:t>Project Summary</a:t>
            </a:r>
            <a:endParaRPr b="1" sz="3200">
              <a:solidFill>
                <a:srgbClr val="000000"/>
              </a:solidFill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216025" y="1679618"/>
            <a:ext cx="6246000" cy="49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statement:</a:t>
            </a:r>
            <a:endParaRPr sz="32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Access to an affordable, course-specific solution for distance-learning students to complete ECEN215 Labs is minimal.</a:t>
            </a:r>
            <a:endParaRPr sz="32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Solution:</a:t>
            </a:r>
            <a:endParaRPr sz="32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affordable, self-contained system that enables hands-on measurements and intuitive data displays.</a:t>
            </a:r>
            <a:endParaRPr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Complete production of labkit for $50-$75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Easily transportable by hand.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7" name="Google Shape;6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4775" y="2896701"/>
            <a:ext cx="2815776" cy="22152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 txBox="1"/>
          <p:nvPr/>
        </p:nvSpPr>
        <p:spPr>
          <a:xfrm>
            <a:off x="7323775" y="4893925"/>
            <a:ext cx="14859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</a:rPr>
              <a:t>AD3: $379</a:t>
            </a:r>
            <a:endParaRPr b="1"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/>
          <p:nvPr/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</a:rPr>
              <a:t>Integrated System Diagram</a:t>
            </a:r>
            <a:endParaRPr b="1" sz="3200">
              <a:solidFill>
                <a:srgbClr val="000000"/>
              </a:solidFill>
            </a:endParaRPr>
          </a:p>
        </p:txBody>
      </p:sp>
      <p:grpSp>
        <p:nvGrpSpPr>
          <p:cNvPr id="74" name="Google Shape;74;p5"/>
          <p:cNvGrpSpPr/>
          <p:nvPr/>
        </p:nvGrpSpPr>
        <p:grpSpPr>
          <a:xfrm>
            <a:off x="592616" y="2181207"/>
            <a:ext cx="2223922" cy="4077923"/>
            <a:chOff x="842514" y="2098738"/>
            <a:chExt cx="2051400" cy="3761574"/>
          </a:xfrm>
        </p:grpSpPr>
        <p:sp>
          <p:nvSpPr>
            <p:cNvPr id="75" name="Google Shape;75;p5"/>
            <p:cNvSpPr/>
            <p:nvPr/>
          </p:nvSpPr>
          <p:spPr>
            <a:xfrm>
              <a:off x="994425" y="2260525"/>
              <a:ext cx="1750800" cy="3510300"/>
            </a:xfrm>
            <a:prstGeom prst="roundRect">
              <a:avLst>
                <a:gd fmla="val 12642" name="adj"/>
              </a:avLst>
            </a:prstGeom>
            <a:solidFill>
              <a:srgbClr val="DFE3EE"/>
            </a:solidFill>
            <a:ln cap="flat" cmpd="sng" w="103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9100" lIns="99100" spcFirstLastPara="1" rIns="99100" wrap="square" tIns="99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17"/>
            </a:p>
          </p:txBody>
        </p:sp>
        <p:pic>
          <p:nvPicPr>
            <p:cNvPr id="76" name="Google Shape;76;p5"/>
            <p:cNvPicPr preferRelativeResize="0"/>
            <p:nvPr/>
          </p:nvPicPr>
          <p:blipFill rotWithShape="1">
            <a:blip r:embed="rId3">
              <a:alphaModFix/>
            </a:blip>
            <a:srcRect b="0" l="0" r="0" t="833"/>
            <a:stretch/>
          </p:blipFill>
          <p:spPr>
            <a:xfrm>
              <a:off x="1102150" y="2482300"/>
              <a:ext cx="1543176" cy="3171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5"/>
            <p:cNvPicPr preferRelativeResize="0"/>
            <p:nvPr/>
          </p:nvPicPr>
          <p:blipFill rotWithShape="1">
            <a:blip r:embed="rId4">
              <a:alphaModFix/>
            </a:blip>
            <a:srcRect b="4836" l="24880" r="25259" t="3739"/>
            <a:stretch/>
          </p:blipFill>
          <p:spPr>
            <a:xfrm>
              <a:off x="842514" y="2098738"/>
              <a:ext cx="2051400" cy="37615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8" name="Google Shape;78;p5"/>
          <p:cNvPicPr preferRelativeResize="0"/>
          <p:nvPr/>
        </p:nvPicPr>
        <p:blipFill rotWithShape="1">
          <a:blip r:embed="rId5">
            <a:alphaModFix/>
          </a:blip>
          <a:srcRect b="5085" l="12146" r="10884" t="10313"/>
          <a:stretch/>
        </p:blipFill>
        <p:spPr>
          <a:xfrm rot="203142">
            <a:off x="2953256" y="2210441"/>
            <a:ext cx="3386639" cy="20322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p5"/>
          <p:cNvGrpSpPr/>
          <p:nvPr/>
        </p:nvGrpSpPr>
        <p:grpSpPr>
          <a:xfrm>
            <a:off x="457206" y="1969450"/>
            <a:ext cx="6002549" cy="4505475"/>
            <a:chOff x="644550" y="1961900"/>
            <a:chExt cx="6244200" cy="4505475"/>
          </a:xfrm>
        </p:grpSpPr>
        <p:cxnSp>
          <p:nvCxnSpPr>
            <p:cNvPr id="80" name="Google Shape;80;p5"/>
            <p:cNvCxnSpPr/>
            <p:nvPr/>
          </p:nvCxnSpPr>
          <p:spPr>
            <a:xfrm>
              <a:off x="644550" y="1961900"/>
              <a:ext cx="6244200" cy="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lgDash"/>
              <a:round/>
              <a:headEnd len="med" w="med" type="none"/>
              <a:tailEnd len="med" w="med" type="none"/>
            </a:ln>
          </p:spPr>
        </p:cxnSp>
        <p:cxnSp>
          <p:nvCxnSpPr>
            <p:cNvPr id="81" name="Google Shape;81;p5"/>
            <p:cNvCxnSpPr/>
            <p:nvPr/>
          </p:nvCxnSpPr>
          <p:spPr>
            <a:xfrm>
              <a:off x="659650" y="1961900"/>
              <a:ext cx="0" cy="45054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lgDash"/>
              <a:round/>
              <a:headEnd len="med" w="med" type="none"/>
              <a:tailEnd len="med" w="med" type="none"/>
            </a:ln>
          </p:spPr>
        </p:cxnSp>
        <p:cxnSp>
          <p:nvCxnSpPr>
            <p:cNvPr id="82" name="Google Shape;82;p5"/>
            <p:cNvCxnSpPr/>
            <p:nvPr/>
          </p:nvCxnSpPr>
          <p:spPr>
            <a:xfrm flipH="1" rot="10800000">
              <a:off x="659650" y="6459875"/>
              <a:ext cx="2872500" cy="75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lgDash"/>
              <a:round/>
              <a:headEnd len="med" w="med" type="none"/>
              <a:tailEnd len="med" w="med" type="none"/>
            </a:ln>
          </p:spPr>
        </p:cxnSp>
        <p:cxnSp>
          <p:nvCxnSpPr>
            <p:cNvPr id="83" name="Google Shape;83;p5"/>
            <p:cNvCxnSpPr/>
            <p:nvPr/>
          </p:nvCxnSpPr>
          <p:spPr>
            <a:xfrm flipH="1" rot="10800000">
              <a:off x="3502050" y="4343075"/>
              <a:ext cx="7500" cy="21243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lgDash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5"/>
            <p:cNvCxnSpPr/>
            <p:nvPr/>
          </p:nvCxnSpPr>
          <p:spPr>
            <a:xfrm flipH="1">
              <a:off x="6835675" y="1969475"/>
              <a:ext cx="22800" cy="236610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lgDash"/>
              <a:round/>
              <a:headEnd len="med" w="med" type="none"/>
              <a:tailEnd len="med" w="med" type="none"/>
            </a:ln>
          </p:spPr>
        </p:cxnSp>
        <p:cxnSp>
          <p:nvCxnSpPr>
            <p:cNvPr id="85" name="Google Shape;85;p5"/>
            <p:cNvCxnSpPr/>
            <p:nvPr/>
          </p:nvCxnSpPr>
          <p:spPr>
            <a:xfrm rot="10800000">
              <a:off x="3494450" y="4343150"/>
              <a:ext cx="3348900" cy="0"/>
            </a:xfrm>
            <a:prstGeom prst="straightConnector1">
              <a:avLst/>
            </a:prstGeom>
            <a:noFill/>
            <a:ln cap="flat" cmpd="sng" w="19050">
              <a:solidFill>
                <a:srgbClr val="93C47D"/>
              </a:solidFill>
              <a:prstDash val="lgDash"/>
              <a:round/>
              <a:headEnd len="med" w="med" type="none"/>
              <a:tailEnd len="med" w="med" type="none"/>
            </a:ln>
          </p:spPr>
        </p:cxnSp>
      </p:grpSp>
      <p:pic>
        <p:nvPicPr>
          <p:cNvPr id="86" name="Google Shape;86;p5"/>
          <p:cNvPicPr preferRelativeResize="0"/>
          <p:nvPr/>
        </p:nvPicPr>
        <p:blipFill rotWithShape="1">
          <a:blip r:embed="rId6">
            <a:alphaModFix/>
          </a:blip>
          <a:srcRect b="10663" l="2272" r="2680" t="9343"/>
          <a:stretch/>
        </p:blipFill>
        <p:spPr>
          <a:xfrm rot="5400000">
            <a:off x="5428112" y="3390388"/>
            <a:ext cx="4318750" cy="1514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5"/>
          <p:cNvCxnSpPr/>
          <p:nvPr/>
        </p:nvCxnSpPr>
        <p:spPr>
          <a:xfrm>
            <a:off x="5164525" y="3590050"/>
            <a:ext cx="1853700" cy="15978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5"/>
          <p:cNvCxnSpPr/>
          <p:nvPr/>
        </p:nvCxnSpPr>
        <p:spPr>
          <a:xfrm>
            <a:off x="5388600" y="3506875"/>
            <a:ext cx="1588800" cy="1281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5"/>
          <p:cNvSpPr txBox="1"/>
          <p:nvPr/>
        </p:nvSpPr>
        <p:spPr>
          <a:xfrm>
            <a:off x="3310075" y="5131525"/>
            <a:ext cx="2673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92C47C"/>
                </a:solidFill>
              </a:rPr>
              <a:t>Lab Kit System</a:t>
            </a:r>
            <a:endParaRPr sz="2600">
              <a:solidFill>
                <a:srgbClr val="92C47C"/>
              </a:solidFill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3694175" y="5966275"/>
            <a:ext cx="29964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E69138"/>
                </a:solidFill>
              </a:rPr>
              <a:t>User’s Breadboard</a:t>
            </a:r>
            <a:endParaRPr sz="2600">
              <a:solidFill>
                <a:srgbClr val="E69138"/>
              </a:solidFill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2816550" y="4132875"/>
            <a:ext cx="2027900" cy="604412"/>
          </a:xfrm>
          <a:custGeom>
            <a:rect b="b" l="l" r="r" t="t"/>
            <a:pathLst>
              <a:path extrusionOk="0" h="28313" w="81116">
                <a:moveTo>
                  <a:pt x="81116" y="0"/>
                </a:moveTo>
                <a:cubicBezTo>
                  <a:pt x="75381" y="4507"/>
                  <a:pt x="60222" y="23079"/>
                  <a:pt x="46703" y="27039"/>
                </a:cubicBezTo>
                <a:cubicBezTo>
                  <a:pt x="33184" y="30999"/>
                  <a:pt x="7784" y="24307"/>
                  <a:pt x="0" y="23761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lgDash"/>
            <a:round/>
            <a:headEnd len="med" w="med" type="none"/>
            <a:tailEnd len="med" w="med" type="stealth"/>
          </a:ln>
        </p:spPr>
      </p:sp>
      <p:sp>
        <p:nvSpPr>
          <p:cNvPr id="92" name="Google Shape;92;p5"/>
          <p:cNvSpPr txBox="1"/>
          <p:nvPr/>
        </p:nvSpPr>
        <p:spPr>
          <a:xfrm>
            <a:off x="4194325" y="4549263"/>
            <a:ext cx="904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BLE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2429950" y="1926075"/>
            <a:ext cx="1669387" cy="255121"/>
          </a:xfrm>
          <a:custGeom>
            <a:rect b="b" l="l" r="r" t="t"/>
            <a:pathLst>
              <a:path extrusionOk="0" h="13110" w="77019">
                <a:moveTo>
                  <a:pt x="77019" y="13110"/>
                </a:moveTo>
                <a:cubicBezTo>
                  <a:pt x="70328" y="10925"/>
                  <a:pt x="49708" y="0"/>
                  <a:pt x="36871" y="0"/>
                </a:cubicBezTo>
                <a:cubicBezTo>
                  <a:pt x="24035" y="0"/>
                  <a:pt x="6145" y="10925"/>
                  <a:pt x="0" y="1311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lgDash"/>
            <a:round/>
            <a:headEnd len="med" w="med" type="stealth"/>
            <a:tailEnd len="med" w="med" type="none"/>
          </a:ln>
        </p:spPr>
      </p:sp>
      <p:sp>
        <p:nvSpPr>
          <p:cNvPr id="94" name="Google Shape;94;p5"/>
          <p:cNvSpPr txBox="1"/>
          <p:nvPr/>
        </p:nvSpPr>
        <p:spPr>
          <a:xfrm>
            <a:off x="2896200" y="1926075"/>
            <a:ext cx="904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BLE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690575" y="1920600"/>
            <a:ext cx="1853700" cy="4660200"/>
          </a:xfrm>
          <a:prstGeom prst="roundRect">
            <a:avLst>
              <a:gd fmla="val 11268" name="adj"/>
            </a:avLst>
          </a:prstGeom>
          <a:noFill/>
          <a:ln cap="flat" cmpd="sng" w="19050">
            <a:solidFill>
              <a:srgbClr val="E69138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/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</a:rPr>
              <a:t>Project Timeline </a:t>
            </a:r>
            <a:endParaRPr b="1" sz="3200">
              <a:solidFill>
                <a:srgbClr val="000000"/>
              </a:solidFill>
            </a:endParaRPr>
          </a:p>
        </p:txBody>
      </p:sp>
      <p:graphicFrame>
        <p:nvGraphicFramePr>
          <p:cNvPr id="101" name="Google Shape;101;p6"/>
          <p:cNvGraphicFramePr/>
          <p:nvPr/>
        </p:nvGraphicFramePr>
        <p:xfrm>
          <a:off x="580050" y="280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{4A0B8513-1ABD-4C1C-AE81-AFDD08C9CCE2}</a:tableStyleId>
              </a:tblPr>
              <a:tblGrid>
                <a:gridCol w="1365600"/>
                <a:gridCol w="1493250"/>
                <a:gridCol w="1418075"/>
                <a:gridCol w="1306975"/>
                <a:gridCol w="1355225"/>
                <a:gridCol w="1044750"/>
              </a:tblGrid>
              <a:tr h="627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2/9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2/23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3/9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3/16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3/30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4/20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589650"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Finalize PCB &amp; order</a:t>
                      </a:r>
                      <a:endParaRPr sz="1200"/>
                    </a:p>
                    <a:p>
                      <a:pPr indent="-20700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Phone-MCU BLE Validation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Soldered backup PCB</a:t>
                      </a:r>
                      <a:endParaRPr sz="1200"/>
                    </a:p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Begin App Integration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Char char="●"/>
                      </a:pPr>
                      <a:r>
                        <a:rPr lang="en-US" sz="1200"/>
                        <a:t>Solder big PCB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DAC fully integrated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Integrate</a:t>
                      </a:r>
                      <a:r>
                        <a:rPr lang="en-US" sz="1200"/>
                        <a:t> </a:t>
                      </a:r>
                      <a:r>
                        <a:rPr lang="en-US" sz="1200"/>
                        <a:t>signal</a:t>
                      </a:r>
                      <a:r>
                        <a:rPr lang="en-US" sz="1200"/>
                        <a:t> gen</a:t>
                      </a:r>
                      <a:endParaRPr sz="1200"/>
                    </a:p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Integrate oscilloscope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Final Demo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Supply/Signal Generator</a:t>
            </a:r>
            <a:br>
              <a:rPr lang="en-US"/>
            </a:br>
            <a:r>
              <a:rPr lang="en-US" sz="1600"/>
              <a:t>Gavin Bernard</a:t>
            </a:r>
            <a:endParaRPr/>
          </a:p>
        </p:txBody>
      </p:sp>
      <p:graphicFrame>
        <p:nvGraphicFramePr>
          <p:cNvPr id="107" name="Google Shape;107;p7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{12406449-4949-4EC4-BF0E-A99273A2D69C}</a:tableStyleId>
              </a:tblPr>
              <a:tblGrid>
                <a:gridCol w="3886200"/>
                <a:gridCol w="3886200"/>
              </a:tblGrid>
              <a:tr h="82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18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94205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Validated 5 Volt Buck Converter with 4.988 volts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Validated 3.3 Volt Buck Converter with 3.299 volts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Validated -5 Volt Charge Pump Inverter with  -4.928 volts 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Validated Variable Voltage Control with 99% accuracy and fixed connective issue with the App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Signal Generator operational with frequency and waveform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Fix Signal Generator amplitude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Fix connective issue from Micro-USB and ESP32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26df91652_0_9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Supply/Signal Generator</a:t>
            </a:r>
            <a:br>
              <a:rPr lang="en-US"/>
            </a:br>
            <a:r>
              <a:rPr lang="en-US" sz="1600"/>
              <a:t>Gavin Bernard</a:t>
            </a:r>
            <a:endParaRPr/>
          </a:p>
        </p:txBody>
      </p:sp>
      <p:pic>
        <p:nvPicPr>
          <p:cNvPr id="113" name="Google Shape;113;g3d26df91652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96088"/>
            <a:ext cx="8839203" cy="2669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type="title"/>
          </p:nvPr>
        </p:nvSpPr>
        <p:spPr>
          <a:xfrm>
            <a:off x="457200" y="1049338"/>
            <a:ext cx="8229600" cy="8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Supply/Signal Generator</a:t>
            </a:r>
            <a:br>
              <a:rPr lang="en-US"/>
            </a:br>
            <a:r>
              <a:rPr lang="en-US" sz="1600"/>
              <a:t>Gavin Bernard</a:t>
            </a:r>
            <a:endParaRPr/>
          </a:p>
        </p:txBody>
      </p:sp>
      <p:pic>
        <p:nvPicPr>
          <p:cNvPr id="119" name="Google Shape;119;p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851" y="1852625"/>
            <a:ext cx="7652301" cy="473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26df91652_0_1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Supply/Signal Generator</a:t>
            </a:r>
            <a:br>
              <a:rPr lang="en-US"/>
            </a:br>
            <a:r>
              <a:rPr lang="en-US" sz="1600"/>
              <a:t>Gavin Bernard</a:t>
            </a:r>
            <a:endParaRPr/>
          </a:p>
        </p:txBody>
      </p:sp>
      <p:pic>
        <p:nvPicPr>
          <p:cNvPr id="125" name="Google Shape;125;g3d26df91652_0_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138" y="2005025"/>
            <a:ext cx="7622550" cy="4713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26df91652_0_15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Supply/Signal Generator</a:t>
            </a:r>
            <a:br>
              <a:rPr lang="en-US"/>
            </a:br>
            <a:r>
              <a:rPr lang="en-US" sz="1600"/>
              <a:t>Gavin Bernard</a:t>
            </a:r>
            <a:endParaRPr/>
          </a:p>
        </p:txBody>
      </p:sp>
      <p:pic>
        <p:nvPicPr>
          <p:cNvPr id="131" name="Google Shape;131;g3d26df91652_0_15" title="IMG_7089.heic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175" y="1852750"/>
            <a:ext cx="6779643" cy="500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26df91652_0_25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Supply/Signal Generator</a:t>
            </a:r>
            <a:br>
              <a:rPr lang="en-US"/>
            </a:br>
            <a:r>
              <a:rPr lang="en-US" sz="1600"/>
              <a:t>Gavin Bernard</a:t>
            </a:r>
            <a:endParaRPr/>
          </a:p>
        </p:txBody>
      </p:sp>
      <p:pic>
        <p:nvPicPr>
          <p:cNvPr id="137" name="Google Shape;137;g3d26df91652_0_25" title="IMG_7090.heic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300" y="1852750"/>
            <a:ext cx="7133389" cy="500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26df91652_0_32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Supply/Signal Generator</a:t>
            </a:r>
            <a:br>
              <a:rPr lang="en-US"/>
            </a:br>
            <a:r>
              <a:rPr lang="en-US" sz="1600"/>
              <a:t>Gavin Bernard</a:t>
            </a:r>
            <a:endParaRPr/>
          </a:p>
        </p:txBody>
      </p:sp>
      <p:pic>
        <p:nvPicPr>
          <p:cNvPr id="143" name="Google Shape;143;g3d26df91652_0_32" title="IMG_7091.heic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404" y="1852750"/>
            <a:ext cx="7025197" cy="478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25b0fd9ad_0_3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Measurement Subsystem</a:t>
            </a:r>
            <a:br>
              <a:rPr lang="en-US"/>
            </a:br>
            <a:r>
              <a:rPr lang="en-US" sz="1600"/>
              <a:t>Maylun Huang</a:t>
            </a:r>
            <a:endParaRPr/>
          </a:p>
        </p:txBody>
      </p:sp>
      <p:graphicFrame>
        <p:nvGraphicFramePr>
          <p:cNvPr id="149" name="Google Shape;149;g3d25b0fd9ad_0_31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{12406449-4949-4EC4-BF0E-A99273A2D69C}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14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Validated voltmeter, &amp; single channel oscilloscope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In progress validating ohmmeter &amp; dual channel oscilloscope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Fully validate ammeter &amp; </a:t>
                      </a:r>
                      <a:r>
                        <a:rPr lang="en-US" sz="1800"/>
                        <a:t>second</a:t>
                      </a:r>
                      <a:r>
                        <a:rPr lang="en-US" sz="1800"/>
                        <a:t> channel of oscilloscope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25b0fd9ad_0_41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Measurement Subsystem</a:t>
            </a:r>
            <a:br>
              <a:rPr lang="en-US"/>
            </a:br>
            <a:r>
              <a:rPr lang="en-US" sz="1600"/>
              <a:t>Maylun Huang</a:t>
            </a:r>
            <a:endParaRPr/>
          </a:p>
        </p:txBody>
      </p:sp>
      <p:pic>
        <p:nvPicPr>
          <p:cNvPr id="155" name="Google Shape;155;g3d25b0fd9ad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73563"/>
            <a:ext cx="8839200" cy="431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6" name="Google Shape;156;g3d25b0fd9ad_0_41"/>
          <p:cNvGraphicFramePr/>
          <p:nvPr/>
        </p:nvGraphicFramePr>
        <p:xfrm>
          <a:off x="2547150" y="3216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{4A0B8513-1ABD-4C1C-AE81-AFDD08C9CCE2}</a:tableStyleId>
              </a:tblPr>
              <a:tblGrid>
                <a:gridCol w="1276375"/>
                <a:gridCol w="1380325"/>
                <a:gridCol w="13930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Voltmeter</a:t>
                      </a:r>
                      <a:endParaRPr b="1"/>
                    </a:p>
                  </a:txBody>
                  <a:tcPr marT="91425" marB="91425" marR="91425" marL="91425"/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Input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Code Reads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Actual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[V]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[V]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[V]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-5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-5.01 ± 0.07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1.62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-0.1 ± 0.1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-5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3.23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4.98 ± 0.03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25b0fd9ad_0_83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Measurement Subsystem</a:t>
            </a:r>
            <a:br>
              <a:rPr lang="en-US"/>
            </a:br>
            <a:r>
              <a:rPr lang="en-US" sz="1600"/>
              <a:t>Maylun Huang</a:t>
            </a:r>
            <a:endParaRPr/>
          </a:p>
        </p:txBody>
      </p:sp>
      <p:graphicFrame>
        <p:nvGraphicFramePr>
          <p:cNvPr id="162" name="Google Shape;162;g3d25b0fd9ad_0_83"/>
          <p:cNvGraphicFramePr/>
          <p:nvPr/>
        </p:nvGraphicFramePr>
        <p:xfrm>
          <a:off x="2547150" y="3428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{4A0B8513-1ABD-4C1C-AE81-AFDD08C9CCE2}</a:tableStyleId>
              </a:tblPr>
              <a:tblGrid>
                <a:gridCol w="1328350"/>
                <a:gridCol w="1328350"/>
                <a:gridCol w="13930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Ohmmeter</a:t>
                      </a:r>
                      <a:endParaRPr b="1"/>
                    </a:p>
                  </a:txBody>
                  <a:tcPr marT="91425" marB="91425" marR="91425" marL="91425"/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Component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Raw Input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Actual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[Ω]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[V]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[Ω]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± 0.02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1.65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99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± 0.08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102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± 0.04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1.65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987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± 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pic>
        <p:nvPicPr>
          <p:cNvPr id="163" name="Google Shape;163;g3d25b0fd9ad_0_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138"/>
            <a:ext cx="8839200" cy="458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25b0fd9ad_0_99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Measurement Subsystem</a:t>
            </a:r>
            <a:br>
              <a:rPr lang="en-US"/>
            </a:br>
            <a:r>
              <a:rPr lang="en-US" sz="1600"/>
              <a:t>Maylun Huang</a:t>
            </a:r>
            <a:endParaRPr/>
          </a:p>
        </p:txBody>
      </p:sp>
      <p:pic>
        <p:nvPicPr>
          <p:cNvPr id="169" name="Google Shape;169;g3d25b0fd9ad_0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2075" y="2794194"/>
            <a:ext cx="5750524" cy="387675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d25b0fd9ad_0_99"/>
          <p:cNvSpPr txBox="1"/>
          <p:nvPr/>
        </p:nvSpPr>
        <p:spPr>
          <a:xfrm>
            <a:off x="152400" y="2749500"/>
            <a:ext cx="24639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Sin Wave, 1V amplitude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100 Hz →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1kHz →</a:t>
            </a:r>
            <a:endParaRPr sz="2600">
              <a:solidFill>
                <a:schemeClr val="dk1"/>
              </a:solidFill>
            </a:endParaRPr>
          </a:p>
        </p:txBody>
      </p:sp>
      <p:pic>
        <p:nvPicPr>
          <p:cNvPr id="171" name="Google Shape;171;g3d25b0fd9ad_0_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50" y="2016050"/>
            <a:ext cx="8839201" cy="343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25b0fd9ad_0_4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</a:t>
            </a:r>
            <a:br>
              <a:rPr lang="en-US"/>
            </a:br>
            <a:r>
              <a:rPr lang="en-US" sz="1600"/>
              <a:t>Evan Slyter</a:t>
            </a:r>
            <a:endParaRPr/>
          </a:p>
        </p:txBody>
      </p:sp>
      <p:graphicFrame>
        <p:nvGraphicFramePr>
          <p:cNvPr id="177" name="Google Shape;177;g3d25b0fd9ad_0_47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{12406449-4949-4EC4-BF0E-A99273A2D69C}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8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-Updated MCU code multiple times to fix reconnection and DAC output issues.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-Validated range of app connection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-Validated time to send to MCU from app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-Validated time to connect to app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-Validated connection through obstacles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-Validated app-MCU data accuracy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-Integrate Oscilloscope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-Integrate Signal Gen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-Continue to update code as new problems appear during integration.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25b0fd9ad_0_57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</a:t>
            </a:r>
            <a:br>
              <a:rPr lang="en-US"/>
            </a:br>
            <a:r>
              <a:rPr lang="en-US" sz="1600"/>
              <a:t>Evan Slyter</a:t>
            </a:r>
            <a:endParaRPr/>
          </a:p>
        </p:txBody>
      </p:sp>
      <p:graphicFrame>
        <p:nvGraphicFramePr>
          <p:cNvPr id="183" name="Google Shape;183;g3d25b0fd9ad_0_57"/>
          <p:cNvGraphicFramePr/>
          <p:nvPr/>
        </p:nvGraphicFramePr>
        <p:xfrm>
          <a:off x="814050" y="270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{4A0B8513-1ABD-4C1C-AE81-AFDD08C9CCE2}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Trial 1, Flat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12ft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4" name="Google Shape;184;g3d25b0fd9ad_0_57"/>
          <p:cNvGraphicFramePr/>
          <p:nvPr/>
        </p:nvGraphicFramePr>
        <p:xfrm>
          <a:off x="814050" y="435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{4A0B8513-1ABD-4C1C-AE81-AFDD08C9CCE2}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Trial 2, Holding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12ft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85" name="Google Shape;185;g3d25b0fd9ad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39" y="1852750"/>
            <a:ext cx="8839200" cy="359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a24438717_0_4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</a:t>
            </a:r>
            <a:br>
              <a:rPr lang="en-US"/>
            </a:br>
            <a:r>
              <a:rPr lang="en-US" sz="1600"/>
              <a:t>Evan Slyter</a:t>
            </a:r>
            <a:endParaRPr/>
          </a:p>
        </p:txBody>
      </p:sp>
      <p:graphicFrame>
        <p:nvGraphicFramePr>
          <p:cNvPr id="191" name="Google Shape;191;g3da24438717_0_4"/>
          <p:cNvGraphicFramePr/>
          <p:nvPr/>
        </p:nvGraphicFramePr>
        <p:xfrm>
          <a:off x="814050" y="270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{4A0B8513-1ABD-4C1C-AE81-AFDD08C9CCE2}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Trial 1, Flat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12ft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17s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N/A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N/A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2" name="Google Shape;192;g3da24438717_0_4"/>
          <p:cNvGraphicFramePr/>
          <p:nvPr/>
        </p:nvGraphicFramePr>
        <p:xfrm>
          <a:off x="814050" y="435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{4A0B8513-1ABD-4C1C-AE81-AFDD08C9CCE2}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Trial 2, Holding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12ft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1.5s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93" name="Google Shape;193;g3da24438717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52750"/>
            <a:ext cx="8839202" cy="478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a24438717_0_13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</a:t>
            </a:r>
            <a:br>
              <a:rPr lang="en-US"/>
            </a:br>
            <a:r>
              <a:rPr lang="en-US" sz="1600"/>
              <a:t>Evan Slyter</a:t>
            </a:r>
            <a:endParaRPr/>
          </a:p>
        </p:txBody>
      </p:sp>
      <p:pic>
        <p:nvPicPr>
          <p:cNvPr id="199" name="Google Shape;199;g3da24438717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52750"/>
            <a:ext cx="8839201" cy="45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da24438717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21075"/>
            <a:ext cx="3307375" cy="291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da24438717_0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5534791"/>
            <a:ext cx="362902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da24438717_0_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6900" y="2521075"/>
            <a:ext cx="2593675" cy="227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da24438717_0_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33825" y="5145998"/>
            <a:ext cx="4196900" cy="97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a24438717_0_47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</a:t>
            </a:r>
            <a:br>
              <a:rPr lang="en-US"/>
            </a:br>
            <a:r>
              <a:rPr lang="en-US" sz="1600"/>
              <a:t>Evan Slyter</a:t>
            </a:r>
            <a:endParaRPr/>
          </a:p>
        </p:txBody>
      </p:sp>
      <p:pic>
        <p:nvPicPr>
          <p:cNvPr id="209" name="Google Shape;209;g3da24438717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138"/>
            <a:ext cx="8839200" cy="77401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da24438717_0_47"/>
          <p:cNvSpPr txBox="1"/>
          <p:nvPr/>
        </p:nvSpPr>
        <p:spPr>
          <a:xfrm>
            <a:off x="384950" y="3343700"/>
            <a:ext cx="79983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Previously failed. Fixed previous issue of command being </a:t>
            </a:r>
            <a:r>
              <a:rPr lang="en-US" sz="2000">
                <a:solidFill>
                  <a:schemeClr val="dk1"/>
                </a:solidFill>
              </a:rPr>
              <a:t>received</a:t>
            </a:r>
            <a:r>
              <a:rPr lang="en-US" sz="2000">
                <a:solidFill>
                  <a:schemeClr val="dk1"/>
                </a:solidFill>
              </a:rPr>
              <a:t> by MCU but output not changing.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a24438717_0_26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</a:t>
            </a:r>
            <a:br>
              <a:rPr lang="en-US"/>
            </a:br>
            <a:r>
              <a:rPr lang="en-US" sz="1600"/>
              <a:t>Evan Slyter</a:t>
            </a:r>
            <a:endParaRPr/>
          </a:p>
        </p:txBody>
      </p:sp>
      <p:pic>
        <p:nvPicPr>
          <p:cNvPr id="216" name="Google Shape;216;g3da24438717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138"/>
            <a:ext cx="8839200" cy="37668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7" name="Google Shape;217;g3da24438717_0_26"/>
          <p:cNvGraphicFramePr/>
          <p:nvPr/>
        </p:nvGraphicFramePr>
        <p:xfrm>
          <a:off x="773325" y="287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{4A0B8513-1ABD-4C1C-AE81-AFDD08C9CCE2}</a:tableStyleId>
              </a:tblPr>
              <a:tblGrid>
                <a:gridCol w="1423725"/>
                <a:gridCol w="1423725"/>
                <a:gridCol w="1683200"/>
                <a:gridCol w="139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Trial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Case Only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Case + Door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Case + Blanket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Case + Desk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18" name="Google Shape;218;g3da24438717_0_26"/>
          <p:cNvGraphicFramePr/>
          <p:nvPr/>
        </p:nvGraphicFramePr>
        <p:xfrm>
          <a:off x="773325" y="462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{4A0B8513-1ABD-4C1C-AE81-AFDD08C9CCE2}</a:tableStyleId>
              </a:tblPr>
              <a:tblGrid>
                <a:gridCol w="1423725"/>
                <a:gridCol w="1423725"/>
                <a:gridCol w="1683200"/>
                <a:gridCol w="139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Trial 2, 6ft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Case Only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Case + Door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Case + Blanket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Case + Desk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a24438717_0_38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</a:t>
            </a:r>
            <a:br>
              <a:rPr lang="en-US"/>
            </a:br>
            <a:r>
              <a:rPr lang="en-US" sz="1600"/>
              <a:t>Evan Slyter</a:t>
            </a:r>
            <a:endParaRPr/>
          </a:p>
        </p:txBody>
      </p:sp>
      <p:pic>
        <p:nvPicPr>
          <p:cNvPr id="224" name="Google Shape;224;g3da24438717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138"/>
            <a:ext cx="8839202" cy="5059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5" name="Google Shape;225;g3da24438717_0_38"/>
          <p:cNvGraphicFramePr/>
          <p:nvPr/>
        </p:nvGraphicFramePr>
        <p:xfrm>
          <a:off x="814050" y="270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{4A0B8513-1ABD-4C1C-AE81-AFDD08C9CCE2}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Trial 1, Flat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12ft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Instant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Instant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Instant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Instant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6" name="Google Shape;226;g3da24438717_0_38"/>
          <p:cNvGraphicFramePr/>
          <p:nvPr/>
        </p:nvGraphicFramePr>
        <p:xfrm>
          <a:off x="814050" y="449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{4A0B8513-1ABD-4C1C-AE81-AFDD08C9CCE2}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Trial 2, Holding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12ft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Instant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Instant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Instant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Instant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Instant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Instant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232" name="Google Shape;23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333"/>
            <a:ext cx="8839200" cy="3569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 txBox="1"/>
          <p:nvPr>
            <p:ph type="title"/>
          </p:nvPr>
        </p:nvSpPr>
        <p:spPr>
          <a:xfrm>
            <a:off x="2497000" y="77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pic>
        <p:nvPicPr>
          <p:cNvPr id="238" name="Google Shape;23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9326" y="641625"/>
            <a:ext cx="5897550" cy="61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idx="4294967295" type="title"/>
          </p:nvPr>
        </p:nvSpPr>
        <p:spPr>
          <a:xfrm>
            <a:off x="457200" y="1608138"/>
            <a:ext cx="8229600" cy="4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5,6,7,9,10</vt:lpwstr>
  </property>
</Properties>
</file>