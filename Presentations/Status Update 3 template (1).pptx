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W8i59L1WDU7dt6Z2REZrcpDsW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DFDB14-ABAD-4225-8C39-9C60C260C669}">
  <a:tblStyle styleId="{B0DFDB14-ABAD-4225-8C39-9C60C260C6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3926C49-B1F9-437A-8409-45BA84ACF6F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5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HelveticaNeu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ee1c55b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g3bee1c55bae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ee1c55b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1" name="Google Shape;71;g3bee1c55bae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9306a22a3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c9306a22a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e51b70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g3c8e51b70d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8e51b70d2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c8e51b70d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8e51b70d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0" name="Google Shape;120;g3c8e51b70d2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8e51b70d2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c8e51b70d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934493b15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c934493b1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8e51b70d2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8e51b70d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3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 txBox="1"/>
          <p:nvPr/>
        </p:nvSpPr>
        <p:spPr>
          <a:xfrm>
            <a:off x="1751875" y="3642300"/>
            <a:ext cx="7302600" cy="32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3530">
                <a:solidFill>
                  <a:srgbClr val="FFFFFF"/>
                </a:solidFill>
              </a:rPr>
              <a:t>Team 54: ECEN215 Lab Kit 2</a:t>
            </a:r>
            <a:endParaRPr b="1" sz="353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3530">
                <a:solidFill>
                  <a:srgbClr val="FFFFFF"/>
                </a:solidFill>
              </a:rPr>
              <a:t>Bi-Weekly Update 3</a:t>
            </a:r>
            <a:br>
              <a:rPr b="1" lang="en-US" sz="3530">
                <a:solidFill>
                  <a:srgbClr val="FFFFFF"/>
                </a:solidFill>
              </a:rPr>
            </a:br>
            <a:endParaRPr b="1" sz="353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2470">
                <a:solidFill>
                  <a:srgbClr val="FFFFFF"/>
                </a:solidFill>
              </a:rPr>
              <a:t>Gavin Bernard</a:t>
            </a:r>
            <a:endParaRPr b="1" sz="247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2470">
                <a:solidFill>
                  <a:srgbClr val="FFFFFF"/>
                </a:solidFill>
              </a:rPr>
              <a:t>Maylun Huang</a:t>
            </a:r>
            <a:endParaRPr b="1" sz="247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2470">
                <a:solidFill>
                  <a:srgbClr val="FFFFFF"/>
                </a:solidFill>
              </a:rPr>
              <a:t>Evan Slyter</a:t>
            </a:r>
            <a:endParaRPr b="1" sz="2470">
              <a:solidFill>
                <a:srgbClr val="FFFFFF"/>
              </a:solidFill>
            </a:endParaRPr>
          </a:p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2470">
                <a:solidFill>
                  <a:srgbClr val="FFFFFF"/>
                </a:solidFill>
              </a:rPr>
              <a:t>Sponsor: John Lusher</a:t>
            </a:r>
            <a:br>
              <a:rPr b="1" lang="en-US" sz="2470">
                <a:solidFill>
                  <a:srgbClr val="FFFFFF"/>
                </a:solidFill>
              </a:rPr>
            </a:br>
            <a:r>
              <a:rPr b="1" lang="en-US" sz="2470">
                <a:solidFill>
                  <a:srgbClr val="FFFFFF"/>
                </a:solidFill>
              </a:rPr>
              <a:t>TA: Hailey Ward</a:t>
            </a:r>
            <a:br>
              <a:rPr b="1" lang="en-US" sz="2470">
                <a:solidFill>
                  <a:srgbClr val="FFFFFF"/>
                </a:solidFill>
              </a:rPr>
            </a:br>
            <a:endParaRPr b="1" sz="247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ee1c55bae_0_7"/>
          <p:cNvSpPr txBox="1"/>
          <p:nvPr/>
        </p:nvSpPr>
        <p:spPr>
          <a:xfrm>
            <a:off x="334325" y="10490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 b="1" sz="3200">
              <a:solidFill>
                <a:srgbClr val="000000"/>
              </a:solidFill>
            </a:endParaRPr>
          </a:p>
        </p:txBody>
      </p:sp>
      <p:sp>
        <p:nvSpPr>
          <p:cNvPr id="66" name="Google Shape;66;g3bee1c55bae_0_7"/>
          <p:cNvSpPr txBox="1"/>
          <p:nvPr/>
        </p:nvSpPr>
        <p:spPr>
          <a:xfrm>
            <a:off x="216025" y="1679618"/>
            <a:ext cx="6246000" cy="49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statement:</a:t>
            </a:r>
            <a:endParaRPr sz="32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 to an affordable, course-specific solution for distance-learning students to complete ECEN215 Labs is minimal.</a:t>
            </a:r>
            <a:endParaRPr sz="32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 sz="32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affordable, self-contained system that enables hands-on measurements and intuitive data displays.</a:t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Complete production of labkit for $50-$75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Easily transportable by hand.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g3bee1c55bae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4775" y="2896701"/>
            <a:ext cx="2815776" cy="22152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bee1c55bae_0_7"/>
          <p:cNvSpPr txBox="1"/>
          <p:nvPr/>
        </p:nvSpPr>
        <p:spPr>
          <a:xfrm>
            <a:off x="7323775" y="4893925"/>
            <a:ext cx="14859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AD3: $379</a:t>
            </a:r>
            <a:endParaRPr b="1"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ee1c55bae_0_14"/>
          <p:cNvSpPr txBox="1"/>
          <p:nvPr/>
        </p:nvSpPr>
        <p:spPr>
          <a:xfrm>
            <a:off x="457200" y="823036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Project/</a:t>
            </a:r>
            <a:r>
              <a:rPr b="1" lang="en-US" sz="3200">
                <a:solidFill>
                  <a:srgbClr val="000000"/>
                </a:solidFill>
              </a:rPr>
              <a:t>System Overview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74" name="Google Shape;74;g3bee1c55bae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825" y="1626725"/>
            <a:ext cx="6620350" cy="2875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g3bee1c55bae_0_14"/>
          <p:cNvGraphicFramePr/>
          <p:nvPr/>
        </p:nvGraphicFramePr>
        <p:xfrm>
          <a:off x="1670300" y="477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{B0DFDB14-ABAD-4225-8C39-9C60C260C669}</a:tableStyleId>
              </a:tblPr>
              <a:tblGrid>
                <a:gridCol w="2900250"/>
                <a:gridCol w="2903150"/>
              </a:tblGrid>
              <a:tr h="29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Subsystem</a:t>
                      </a:r>
                      <a:endParaRPr b="1"/>
                    </a:p>
                  </a:txBody>
                  <a:tcPr marT="45700" marB="4570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Responsibility</a:t>
                      </a:r>
                      <a:endParaRPr b="1"/>
                    </a:p>
                  </a:txBody>
                  <a:tcPr marT="45700" marB="45700" marR="91425" marL="91425">
                    <a:solidFill>
                      <a:srgbClr val="D9D9D9"/>
                    </a:solidFill>
                  </a:tcPr>
                </a:tc>
              </a:tr>
              <a:tr h="29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Power Supply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Gavin Bernard</a:t>
                      </a:r>
                      <a:endParaRPr/>
                    </a:p>
                  </a:txBody>
                  <a:tcPr marT="45700" marB="45700" marR="91425" marL="91425"/>
                </a:tc>
              </a:tr>
              <a:tr h="29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Signal Generator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Gavin Bernard</a:t>
                      </a:r>
                      <a:endParaRPr/>
                    </a:p>
                  </a:txBody>
                  <a:tcPr marT="45700" marB="45700" marR="91425" marL="91425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Mobile Application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Evan Slyter</a:t>
                      </a:r>
                      <a:endParaRPr/>
                    </a:p>
                  </a:txBody>
                  <a:tcPr marT="45700" marB="45700" marR="91425" marL="91425"/>
                </a:tc>
              </a:tr>
              <a:tr h="29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Multimeter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Maylun Huang</a:t>
                      </a:r>
                      <a:endParaRPr/>
                    </a:p>
                  </a:txBody>
                  <a:tcPr marT="45700" marB="45700" marR="91425" marL="91425"/>
                </a:tc>
              </a:tr>
              <a:tr h="27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Oscilloscope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Maylun Huang</a:t>
                      </a:r>
                      <a:endParaRPr/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76" name="Google Shape;76;g3bee1c55bae_0_14"/>
          <p:cNvSpPr/>
          <p:nvPr/>
        </p:nvSpPr>
        <p:spPr>
          <a:xfrm>
            <a:off x="3369100" y="1603925"/>
            <a:ext cx="4722300" cy="28980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bee1c55bae_0_14"/>
          <p:cNvSpPr/>
          <p:nvPr/>
        </p:nvSpPr>
        <p:spPr>
          <a:xfrm>
            <a:off x="1261825" y="1697525"/>
            <a:ext cx="2049000" cy="20394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bee1c55bae_0_14"/>
          <p:cNvSpPr txBox="1"/>
          <p:nvPr/>
        </p:nvSpPr>
        <p:spPr>
          <a:xfrm>
            <a:off x="8046525" y="1259075"/>
            <a:ext cx="8781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AA84F"/>
                </a:solidFill>
              </a:rPr>
              <a:t>PCB</a:t>
            </a:r>
            <a:endParaRPr b="1" sz="2200">
              <a:solidFill>
                <a:srgbClr val="6AA84F"/>
              </a:solidFill>
            </a:endParaRPr>
          </a:p>
        </p:txBody>
      </p:sp>
      <p:sp>
        <p:nvSpPr>
          <p:cNvPr id="79" name="Google Shape;79;g3bee1c55bae_0_14"/>
          <p:cNvSpPr txBox="1"/>
          <p:nvPr/>
        </p:nvSpPr>
        <p:spPr>
          <a:xfrm>
            <a:off x="292650" y="3678400"/>
            <a:ext cx="13791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69138"/>
                </a:solidFill>
              </a:rPr>
              <a:t>Software</a:t>
            </a:r>
            <a:endParaRPr b="1" sz="2200">
              <a:solidFill>
                <a:srgbClr val="E6913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(45 sec) </a:t>
            </a:r>
            <a:endParaRPr/>
          </a:p>
        </p:txBody>
      </p:sp>
      <p:graphicFrame>
        <p:nvGraphicFramePr>
          <p:cNvPr id="85" name="Google Shape;85;p5"/>
          <p:cNvGraphicFramePr/>
          <p:nvPr/>
        </p:nvGraphicFramePr>
        <p:xfrm>
          <a:off x="726213" y="284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{B0DFDB14-ABAD-4225-8C39-9C60C260C669}</a:tableStyleId>
              </a:tblPr>
              <a:tblGrid>
                <a:gridCol w="1314150"/>
                <a:gridCol w="1373800"/>
                <a:gridCol w="1292975"/>
                <a:gridCol w="1353300"/>
                <a:gridCol w="1212775"/>
                <a:gridCol w="1144575"/>
              </a:tblGrid>
              <a:tr h="50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1/26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2/9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2/23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3/16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3/30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4/20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165875"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Validate subsystems</a:t>
                      </a:r>
                      <a:endParaRPr sz="1200"/>
                    </a:p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100"/>
                        <a:t>Phone-Phone BLE </a:t>
                      </a:r>
                      <a:r>
                        <a:rPr lang="en-US" sz="1200"/>
                        <a:t>Validation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Finalize PCB &amp; order</a:t>
                      </a:r>
                      <a:endParaRPr sz="1200"/>
                    </a:p>
                    <a:p>
                      <a:pPr indent="-20700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Phone-MCU BLE Validation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Soldered PCB</a:t>
                      </a:r>
                      <a:endParaRPr sz="1200"/>
                    </a:p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App Integration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Integration Complete</a:t>
                      </a:r>
                      <a:endParaRPr sz="1200"/>
                    </a:p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Fully Coded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Final Validation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Final Demo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br>
              <a:rPr lang="en-US"/>
            </a:br>
            <a:r>
              <a:rPr lang="en-US" sz="1600"/>
              <a:t>Gavin Bernard</a:t>
            </a:r>
            <a:endParaRPr/>
          </a:p>
        </p:txBody>
      </p:sp>
      <p:graphicFrame>
        <p:nvGraphicFramePr>
          <p:cNvPr id="91" name="Google Shape;91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{63926C49-B1F9-437A-8409-45BA84ACF6F2}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15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Parts Arrived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12V</a:t>
                      </a:r>
                      <a:r>
                        <a:rPr lang="en-US" sz="1800"/>
                        <a:t> to </a:t>
                      </a:r>
                      <a:r>
                        <a:rPr lang="en-US" sz="1800"/>
                        <a:t>5V</a:t>
                      </a:r>
                      <a:r>
                        <a:rPr lang="en-US" sz="1800"/>
                        <a:t> soldered and tested on PerfBoard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12V to 3.3V soldered and tested on PerfBoard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Complete soldering and testing of subsystems this weekend on PerfBoard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Complete </a:t>
                      </a:r>
                      <a:r>
                        <a:rPr lang="en-US" sz="1800"/>
                        <a:t>integration</a:t>
                      </a:r>
                      <a:r>
                        <a:rPr lang="en-US" sz="1800"/>
                        <a:t> of App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9306a22a3_0_8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Gavin Bernard</a:t>
            </a:r>
            <a:endParaRPr sz="1600"/>
          </a:p>
        </p:txBody>
      </p:sp>
      <p:pic>
        <p:nvPicPr>
          <p:cNvPr id="97" name="Google Shape;97;g3c9306a22a3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25" y="1852738"/>
            <a:ext cx="4360833" cy="4700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c9306a22a3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108" y="1852738"/>
            <a:ext cx="4368742" cy="4368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Gavin Bernard</a:t>
            </a:r>
            <a:endParaRPr sz="1600"/>
          </a:p>
        </p:txBody>
      </p:sp>
      <p:pic>
        <p:nvPicPr>
          <p:cNvPr id="104" name="Google Shape;104;p7" title="IMG_6996.HEIC"/>
          <p:cNvPicPr preferRelativeResize="0"/>
          <p:nvPr/>
        </p:nvPicPr>
        <p:blipFill rotWithShape="1">
          <a:blip r:embed="rId3">
            <a:alphaModFix/>
          </a:blip>
          <a:srcRect b="35766" l="5462" r="26598" t="17825"/>
          <a:stretch/>
        </p:blipFill>
        <p:spPr>
          <a:xfrm>
            <a:off x="0" y="2266325"/>
            <a:ext cx="4390548" cy="399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550" y="2299588"/>
            <a:ext cx="4683250" cy="3932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8e51b70d2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graphicFrame>
        <p:nvGraphicFramePr>
          <p:cNvPr id="111" name="Google Shape;111;g3c8e51b70d2_0_0"/>
          <p:cNvGraphicFramePr/>
          <p:nvPr/>
        </p:nvGraphicFramePr>
        <p:xfrm>
          <a:off x="685800" y="20213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{63926C49-B1F9-437A-8409-45BA84ACF6F2}</a:tableStyleId>
              </a:tblPr>
              <a:tblGrid>
                <a:gridCol w="3955475"/>
                <a:gridCol w="3816925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25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251459" lvl="0" marL="36576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Completed PCB Integration with Power Supply, Signal Generator, and MCU</a:t>
                      </a:r>
                      <a:endParaRPr sz="1800" u="none" cap="none" strike="noStrike"/>
                    </a:p>
                  </a:txBody>
                  <a:tcPr marT="137150" marB="0" marR="182875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1459" lvl="0" marL="36576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US" sz="1800"/>
                        <a:t>PCB assembly</a:t>
                      </a:r>
                      <a:endParaRPr sz="1800"/>
                    </a:p>
                    <a:p>
                      <a:pPr indent="-251459" lvl="0" marL="36576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US" sz="1800"/>
                        <a:t>MCU–app communication</a:t>
                      </a:r>
                      <a:endParaRPr sz="1800"/>
                    </a:p>
                  </a:txBody>
                  <a:tcPr marT="1371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8e51b70d2_0_6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br>
              <a:rPr lang="en-US"/>
            </a:br>
            <a:r>
              <a:rPr lang="en-US" sz="1600"/>
              <a:t>Maylun Huang</a:t>
            </a:r>
            <a:endParaRPr/>
          </a:p>
        </p:txBody>
      </p:sp>
      <p:pic>
        <p:nvPicPr>
          <p:cNvPr id="117" name="Google Shape;117;g3c8e51b70d2_0_6"/>
          <p:cNvPicPr preferRelativeResize="0"/>
          <p:nvPr/>
        </p:nvPicPr>
        <p:blipFill rotWithShape="1">
          <a:blip r:embed="rId3">
            <a:alphaModFix/>
          </a:blip>
          <a:srcRect b="0" l="0" r="0" t="1594"/>
          <a:stretch/>
        </p:blipFill>
        <p:spPr>
          <a:xfrm>
            <a:off x="879575" y="1909550"/>
            <a:ext cx="7384848" cy="48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8e51b70d2_0_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</p:txBody>
      </p:sp>
      <p:graphicFrame>
        <p:nvGraphicFramePr>
          <p:cNvPr id="123" name="Google Shape;123;g3c8e51b70d2_0_12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{63926C49-B1F9-437A-8409-45BA84ACF6F2}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9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-BLE advertiser detected from app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-Sample commands sent from app to ESP32 Dev Kit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-Temporary app page to test connection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-Working with teammates to get code more </a:t>
                      </a:r>
                      <a:r>
                        <a:rPr lang="en-US" sz="1800"/>
                        <a:t>accurate</a:t>
                      </a:r>
                      <a:r>
                        <a:rPr lang="en-US" sz="1800"/>
                        <a:t> while waiting for PCB. (Figuring out pins)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g3c8e51b70d2_0_12"/>
          <p:cNvSpPr txBox="1"/>
          <p:nvPr/>
        </p:nvSpPr>
        <p:spPr>
          <a:xfrm>
            <a:off x="544945" y="4326975"/>
            <a:ext cx="840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8e51b70d2_0_18"/>
          <p:cNvSpPr txBox="1"/>
          <p:nvPr>
            <p:ph type="title"/>
          </p:nvPr>
        </p:nvSpPr>
        <p:spPr>
          <a:xfrm>
            <a:off x="1135700" y="1751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30" name="Google Shape;130;g3c8e51b70d2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98" y="1604850"/>
            <a:ext cx="4361275" cy="420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c8e51b70d2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3365" y="3560626"/>
            <a:ext cx="4521425" cy="241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c8e51b70d2_0_18"/>
          <p:cNvPicPr preferRelativeResize="0"/>
          <p:nvPr/>
        </p:nvPicPr>
        <p:blipFill rotWithShape="1">
          <a:blip r:embed="rId5">
            <a:alphaModFix/>
          </a:blip>
          <a:srcRect b="42732" l="0" r="0" t="0"/>
          <a:stretch/>
        </p:blipFill>
        <p:spPr>
          <a:xfrm>
            <a:off x="6646625" y="618479"/>
            <a:ext cx="2286100" cy="28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934493b15_0_2"/>
          <p:cNvSpPr txBox="1"/>
          <p:nvPr>
            <p:ph type="title"/>
          </p:nvPr>
        </p:nvSpPr>
        <p:spPr>
          <a:xfrm>
            <a:off x="1409700" y="240363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br>
              <a:rPr lang="en-US"/>
            </a:br>
            <a:r>
              <a:rPr lang="en-US" sz="1600"/>
              <a:t>Evan Slyter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38" name="Google Shape;138;g3c934493b15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50" y="1200350"/>
            <a:ext cx="3119358" cy="476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c934493b15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166" y="1265563"/>
            <a:ext cx="2268109" cy="4700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c934493b15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6825" y="1106468"/>
            <a:ext cx="2268100" cy="5018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333"/>
            <a:ext cx="8839201" cy="325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8e51b70d2_0_25"/>
          <p:cNvSpPr txBox="1"/>
          <p:nvPr>
            <p:ph type="title"/>
          </p:nvPr>
        </p:nvSpPr>
        <p:spPr>
          <a:xfrm>
            <a:off x="2342750" y="3415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152" name="Google Shape;152;g3c8e51b70d2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113" y="1024400"/>
            <a:ext cx="6891785" cy="575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idx="4294967295" type="title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5,8</vt:lpwstr>
  </property>
</Properties>
</file>