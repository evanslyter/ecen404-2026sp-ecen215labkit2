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304" r:id="rId5"/>
    <p:sldId id="319" r:id="rId6"/>
    <p:sldId id="306" r:id="rId7"/>
    <p:sldId id="307" r:id="rId8"/>
    <p:sldId id="314" r:id="rId9"/>
    <p:sldId id="308" r:id="rId10"/>
    <p:sldId id="309" r:id="rId11"/>
    <p:sldId id="316" r:id="rId12"/>
    <p:sldId id="315" r:id="rId13"/>
    <p:sldId id="318" r:id="rId14"/>
    <p:sldId id="317" r:id="rId15"/>
    <p:sldId id="321" r:id="rId16"/>
    <p:sldId id="310" r:id="rId17"/>
    <p:sldId id="313" r:id="rId18"/>
    <p:sldId id="320" r:id="rId19"/>
    <p:sldId id="31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A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17FB7-FBE7-5D69-1DED-60C35310BDD4}" v="11" dt="2026-01-21T22:19:40.161"/>
    <p1510:client id="{0B3AF801-E7FC-A6BE-7E66-FC994B4BB759}" v="43" dt="2026-01-21T20:45:01.935"/>
    <p1510:client id="{0E2911F5-BBAE-5048-A480-48E636C6BA0B}" v="200" dt="2026-01-21T21:46:53.084"/>
    <p1510:client id="{22A089B9-FBBF-B41A-28CC-3365696994F8}" v="437" dt="2026-01-21T06:12:54.019"/>
    <p1510:client id="{475E7A7E-9274-7179-CD3A-4D364472BB21}" v="164" dt="2026-01-21T20:41:38.387"/>
    <p1510:client id="{4865F1A2-95EB-C94B-1012-7B6D3DEDB1CE}" v="267" dt="2026-01-21T19:41:14.355"/>
    <p1510:client id="{68BDEBF3-4F47-F350-BA3F-A01D52BE008D}" v="5" dt="2026-01-21T21:42:07.593"/>
    <p1510:client id="{A9C86688-617F-5CD1-21B7-E09434AB171F}" v="205" dt="2026-01-21T22:16:43.216"/>
    <p1510:client id="{DDE337A3-D2AD-A4A7-EF53-F53399DAFEA8}" v="1427" dt="2026-01-21T20:59:42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8C991-F86D-4354-831F-75753FF0202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F0103-B3C6-432F-8770-4E36A8160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8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173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DB31A50-6153-7252-E240-E2F8E8CAD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>
            <a:extLst>
              <a:ext uri="{FF2B5EF4-FFF2-40B4-BE49-F238E27FC236}">
                <a16:creationId xmlns:a16="http://schemas.microsoft.com/office/drawing/2014/main" id="{0101FD94-249E-5E94-A506-A848C2F03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66" name="Google Shape;66;p4:notes">
            <a:extLst>
              <a:ext uri="{FF2B5EF4-FFF2-40B4-BE49-F238E27FC236}">
                <a16:creationId xmlns:a16="http://schemas.microsoft.com/office/drawing/2014/main" id="{59ACCA3A-120B-268D-9CC8-C8DB3E51F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906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1249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8877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2294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4992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ce58aab64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ce58aab64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32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9BA9A847-5FFC-7D78-4A71-F24E316E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>
            <a:extLst>
              <a:ext uri="{FF2B5EF4-FFF2-40B4-BE49-F238E27FC236}">
                <a16:creationId xmlns:a16="http://schemas.microsoft.com/office/drawing/2014/main" id="{240FD56C-7800-D217-6A58-82A4D3D86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5:notes">
            <a:extLst>
              <a:ext uri="{FF2B5EF4-FFF2-40B4-BE49-F238E27FC236}">
                <a16:creationId xmlns:a16="http://schemas.microsoft.com/office/drawing/2014/main" id="{B8784A81-6D35-77D1-E8FF-AE0F96A15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77071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7746A30-31C9-AEB2-C23D-38CBE217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ce58aab64_3_0:notes">
            <a:extLst>
              <a:ext uri="{FF2B5EF4-FFF2-40B4-BE49-F238E27FC236}">
                <a16:creationId xmlns:a16="http://schemas.microsoft.com/office/drawing/2014/main" id="{535CAD0A-E99D-5DE3-533F-8F5BB1BD0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ce58aab64_3_0:notes">
            <a:extLst>
              <a:ext uri="{FF2B5EF4-FFF2-40B4-BE49-F238E27FC236}">
                <a16:creationId xmlns:a16="http://schemas.microsoft.com/office/drawing/2014/main" id="{CB712A92-35FC-7E35-8427-50BB0E97F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1681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9286D591-5EBD-0938-70E7-0CEA9F8C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>
            <a:extLst>
              <a:ext uri="{FF2B5EF4-FFF2-40B4-BE49-F238E27FC236}">
                <a16:creationId xmlns:a16="http://schemas.microsoft.com/office/drawing/2014/main" id="{7E4D2737-89AE-690D-A1E5-DE99B2209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5:notes">
            <a:extLst>
              <a:ext uri="{FF2B5EF4-FFF2-40B4-BE49-F238E27FC236}">
                <a16:creationId xmlns:a16="http://schemas.microsoft.com/office/drawing/2014/main" id="{591456D4-28E0-FF96-7F29-825FE410A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278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43E625E-0A67-B9F0-0977-A8B55A14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ce58aab64_3_0:notes">
            <a:extLst>
              <a:ext uri="{FF2B5EF4-FFF2-40B4-BE49-F238E27FC236}">
                <a16:creationId xmlns:a16="http://schemas.microsoft.com/office/drawing/2014/main" id="{F8B33EE1-221E-1F8C-7326-1487C9125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ce58aab64_3_0:notes">
            <a:extLst>
              <a:ext uri="{FF2B5EF4-FFF2-40B4-BE49-F238E27FC236}">
                <a16:creationId xmlns:a16="http://schemas.microsoft.com/office/drawing/2014/main" id="{0AC4642E-F778-5F53-F817-14A257806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37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713B7D2-995F-4E45-809A-4A512B51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ce58aab64_3_0:notes">
            <a:extLst>
              <a:ext uri="{FF2B5EF4-FFF2-40B4-BE49-F238E27FC236}">
                <a16:creationId xmlns:a16="http://schemas.microsoft.com/office/drawing/2014/main" id="{89C3AAA8-B71D-76C5-8F9D-E21E06EB5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ce58aab64_3_0:notes">
            <a:extLst>
              <a:ext uri="{FF2B5EF4-FFF2-40B4-BE49-F238E27FC236}">
                <a16:creationId xmlns:a16="http://schemas.microsoft.com/office/drawing/2014/main" id="{33AEE24A-2556-658C-BF38-72954C9FD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6686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7d564a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7d564a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Michelle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7961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7d564a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7d564a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/>
              <a:t>Execution plan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Your team planned milestones for completion of any </a:t>
            </a:r>
            <a:r>
              <a:rPr lang="en-US" err="1"/>
              <a:t>remainingsubsystem</a:t>
            </a:r>
            <a:r>
              <a:rPr lang="en-US"/>
              <a:t> functionality, integration of specific </a:t>
            </a:r>
            <a:r>
              <a:rPr lang="en-US" err="1"/>
              <a:t>subsystems,test</a:t>
            </a:r>
            <a:r>
              <a:rPr lang="en-US"/>
              <a:t>, and validation plans should be presented.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Milestones should have owners … things like final </a:t>
            </a:r>
            <a:r>
              <a:rPr lang="en-US" err="1"/>
              <a:t>integrationcan</a:t>
            </a:r>
            <a:r>
              <a:rPr lang="en-US"/>
              <a:t> be group owned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Gantt chart – should indicate some 404 progress.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Try to complete all subsystem function in next 3 weeks.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Try to complete all integration 2 weeks before demo to </a:t>
            </a:r>
            <a:r>
              <a:rPr lang="en-US" err="1"/>
              <a:t>allowfor</a:t>
            </a:r>
            <a:r>
              <a:rPr lang="en-US"/>
              <a:t> system validation and 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40328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B6E21B0-C8D7-E26A-9C6D-D5350745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7d564a012_0_0:notes">
            <a:extLst>
              <a:ext uri="{FF2B5EF4-FFF2-40B4-BE49-F238E27FC236}">
                <a16:creationId xmlns:a16="http://schemas.microsoft.com/office/drawing/2014/main" id="{0C8E2692-E221-73A5-0AD6-9237D08C1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7d564a012_0_0:notes">
            <a:extLst>
              <a:ext uri="{FF2B5EF4-FFF2-40B4-BE49-F238E27FC236}">
                <a16:creationId xmlns:a16="http://schemas.microsoft.com/office/drawing/2014/main" id="{F25FD8F5-A59B-4FB0-2E90-3C476ECDD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/>
              <a:t>Execution plan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Your team planned milestones for completion of any </a:t>
            </a:r>
            <a:r>
              <a:rPr lang="en-US" err="1"/>
              <a:t>remainingsubsystem</a:t>
            </a:r>
            <a:r>
              <a:rPr lang="en-US"/>
              <a:t> functionality, integration of specific </a:t>
            </a:r>
            <a:r>
              <a:rPr lang="en-US" err="1"/>
              <a:t>subsystems,test</a:t>
            </a:r>
            <a:r>
              <a:rPr lang="en-US"/>
              <a:t>, and validation plans should be presented.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Milestones should have owners … things like final </a:t>
            </a:r>
            <a:r>
              <a:rPr lang="en-US" err="1"/>
              <a:t>integrationcan</a:t>
            </a:r>
            <a:r>
              <a:rPr lang="en-US"/>
              <a:t> be group owned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Gantt chart – should indicate some 404 progress.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Try to complete all subsystem function in next 3 weeks.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/>
              <a:t>Try to complete all integration 2 weeks before demo to </a:t>
            </a:r>
            <a:r>
              <a:rPr lang="en-US" err="1"/>
              <a:t>allowfor</a:t>
            </a:r>
            <a:r>
              <a:rPr lang="en-US"/>
              <a:t> system validation and documentation</a:t>
            </a:r>
          </a:p>
        </p:txBody>
      </p:sp>
    </p:spTree>
    <p:extLst>
      <p:ext uri="{BB962C8B-B14F-4D97-AF65-F5344CB8AC3E}">
        <p14:creationId xmlns:p14="http://schemas.microsoft.com/office/powerpoint/2010/main" val="1436070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a11958be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a11958be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662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9582" y="2130425"/>
            <a:ext cx="4488617" cy="1470025"/>
          </a:xfrm>
        </p:spPr>
        <p:txBody>
          <a:bodyPr>
            <a:normAutofit/>
          </a:bodyPr>
          <a:lstStyle>
            <a:lvl1pPr algn="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3886200"/>
            <a:ext cx="5333999" cy="175260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8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51" y="1049177"/>
            <a:ext cx="8235950" cy="803756"/>
          </a:xfrm>
        </p:spPr>
        <p:txBody>
          <a:bodyPr anchor="t"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076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51" y="234146"/>
            <a:ext cx="2443865" cy="41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7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75644"/>
            <a:ext cx="4038600" cy="41505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75644"/>
            <a:ext cx="4038600" cy="41505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6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00649"/>
            <a:ext cx="8229600" cy="1143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9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968"/>
            <a:ext cx="3008313" cy="7368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3720"/>
            <a:ext cx="5111750" cy="5052443"/>
          </a:xfrm>
        </p:spPr>
        <p:txBody>
          <a:bodyPr/>
          <a:lstStyle>
            <a:lvl1pPr>
              <a:defRPr sz="2800" b="1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03850"/>
            <a:ext cx="3008313" cy="4322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63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430"/>
            <a:ext cx="2573672" cy="566738"/>
          </a:xfrm>
        </p:spPr>
        <p:txBody>
          <a:bodyPr anchor="b">
            <a:no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1196430"/>
            <a:ext cx="5486400" cy="48502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68043"/>
            <a:ext cx="2573672" cy="42786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2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1039F-CB0C-E14D-A7EF-3BACE2CEF4E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6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ectronics-lab.com/tag/digilen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Team 54: ECEN 215 Lab Kit</a:t>
            </a:r>
            <a:endParaRPr/>
          </a:p>
          <a:p>
            <a:pPr>
              <a:spcBef>
                <a:spcPts val="0"/>
              </a:spcBef>
              <a:buClr>
                <a:schemeClr val="lt1"/>
              </a:buClr>
              <a:buSzPts val="3600"/>
            </a:pPr>
            <a:r>
              <a:rPr lang="en-US"/>
              <a:t>Bi-Weekly Update 1</a:t>
            </a:r>
            <a:br>
              <a:rPr lang="en-US"/>
            </a:br>
            <a:r>
              <a:rPr lang="en-US" sz="2450"/>
              <a:t>Gavin Bernard, Maylun Huang, Evan Slyter</a:t>
            </a:r>
            <a:br>
              <a:rPr lang="en-US" sz="2450"/>
            </a:br>
            <a:r>
              <a:rPr lang="en-US" sz="2450"/>
              <a:t>Sponsor: Professor Lusher</a:t>
            </a:r>
            <a:br>
              <a:rPr lang="en-US" sz="2450"/>
            </a:br>
            <a:r>
              <a:rPr lang="en-US" sz="2450"/>
              <a:t>TA: Hailey Ward</a:t>
            </a:r>
            <a:br>
              <a:rPr lang="en-US" sz="2450"/>
            </a:br>
            <a:endParaRPr sz="2455"/>
          </a:p>
        </p:txBody>
      </p:sp>
      <p:sp>
        <p:nvSpPr>
          <p:cNvPr id="55" name="Google Shape;55;p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name="adj" fmla="val 28990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193675" dist="23000" dir="5400000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233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2927E50-2038-AA6F-84FC-35F96A71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2;p2">
            <a:extLst>
              <a:ext uri="{FF2B5EF4-FFF2-40B4-BE49-F238E27FC236}">
                <a16:creationId xmlns:a16="http://schemas.microsoft.com/office/drawing/2014/main" id="{9A07A20D-C005-D1A7-6B0F-C2CD9F20EB8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975644"/>
            <a:ext cx="4038600" cy="4150519"/>
          </a:xfrm>
        </p:spPr>
        <p:txBody>
          <a:bodyPr spcFirstLastPara="1" lIns="91425" tIns="45700" rIns="91425" bIns="45700" anchorCtr="0">
            <a:normAutofit/>
          </a:bodyPr>
          <a:lstStyle/>
          <a:p>
            <a:pPr marL="6350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600"/>
              <a:buNone/>
            </a:pPr>
            <a:r>
              <a:rPr lang="en-US" sz="2000"/>
              <a:t>Problem Statement</a:t>
            </a:r>
          </a:p>
          <a:p>
            <a:pPr marL="406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600"/>
            </a:pPr>
            <a:r>
              <a:rPr lang="en-US" sz="2000"/>
              <a:t>Access to an affordable, course-specific solution for distance-learning students to complete ECEN 215 Labs is minimal</a:t>
            </a:r>
          </a:p>
          <a:p>
            <a:pPr marL="6350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600"/>
              <a:buNone/>
            </a:pPr>
            <a:endParaRPr lang="en-US" sz="2000"/>
          </a:p>
          <a:p>
            <a:pPr marL="6350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600"/>
              <a:buNone/>
            </a:pPr>
            <a:r>
              <a:rPr lang="en-US" sz="2000"/>
              <a:t>Our Solution</a:t>
            </a:r>
          </a:p>
          <a:p>
            <a:pPr marL="406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600"/>
            </a:pPr>
            <a:r>
              <a:rPr lang="en-US" sz="2000"/>
              <a:t>An affordable, self-contained system that enables hands-on measurements and intuitive data displays</a:t>
            </a:r>
          </a:p>
        </p:txBody>
      </p:sp>
      <p:pic>
        <p:nvPicPr>
          <p:cNvPr id="13" name="Picture 12" descr="A group of electrical equipment&#10;&#10;AI-generated content may be incorrect.">
            <a:extLst>
              <a:ext uri="{FF2B5EF4-FFF2-40B4-BE49-F238E27FC236}">
                <a16:creationId xmlns:a16="http://schemas.microsoft.com/office/drawing/2014/main" id="{1C33F422-EB5A-8FC2-68C9-85B0A5997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740" r="23473" b="2"/>
          <a:stretch>
            <a:fillRect/>
          </a:stretch>
        </p:blipFill>
        <p:spPr>
          <a:xfrm>
            <a:off x="4648200" y="1975644"/>
            <a:ext cx="4038600" cy="4150519"/>
          </a:xfrm>
          <a:prstGeom prst="rect">
            <a:avLst/>
          </a:prstGeom>
          <a:noFill/>
        </p:spPr>
      </p:pic>
      <p:sp>
        <p:nvSpPr>
          <p:cNvPr id="15" name="Google Shape;61;p2">
            <a:extLst>
              <a:ext uri="{FF2B5EF4-FFF2-40B4-BE49-F238E27FC236}">
                <a16:creationId xmlns:a16="http://schemas.microsoft.com/office/drawing/2014/main" id="{4965CDED-820B-966A-2912-75CC94808F19}"/>
              </a:ext>
            </a:extLst>
          </p:cNvPr>
          <p:cNvSpPr txBox="1">
            <a:spLocks/>
          </p:cNvSpPr>
          <p:nvPr/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spcFirstLastPara="1" vert="horz" lIns="91425" tIns="45700" rIns="91425" bIns="45700" rtlCol="0" anchor="ctr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/>
              <a:t>Project Summary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09C282-C3DD-A52F-545A-861A120BC059}"/>
              </a:ext>
            </a:extLst>
          </p:cNvPr>
          <p:cNvSpPr txBox="1"/>
          <p:nvPr/>
        </p:nvSpPr>
        <p:spPr>
          <a:xfrm>
            <a:off x="4431405" y="5837324"/>
            <a:ext cx="170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AD2 Kit: $400</a:t>
            </a:r>
          </a:p>
        </p:txBody>
      </p:sp>
    </p:spTree>
    <p:extLst>
      <p:ext uri="{BB962C8B-B14F-4D97-AF65-F5344CB8AC3E}">
        <p14:creationId xmlns:p14="http://schemas.microsoft.com/office/powerpoint/2010/main" val="118159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/>
              <a:t>Project/Subsystem Overview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D024F6-B7CC-BFFB-C293-4C5F89508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51269"/>
              </p:ext>
            </p:extLst>
          </p:nvPr>
        </p:nvGraphicFramePr>
        <p:xfrm>
          <a:off x="1176528" y="4728210"/>
          <a:ext cx="6799034" cy="18516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99517">
                  <a:extLst>
                    <a:ext uri="{9D8B030D-6E8A-4147-A177-3AD203B41FA5}">
                      <a16:colId xmlns:a16="http://schemas.microsoft.com/office/drawing/2014/main" val="748988803"/>
                    </a:ext>
                  </a:extLst>
                </a:gridCol>
                <a:gridCol w="3399517">
                  <a:extLst>
                    <a:ext uri="{9D8B030D-6E8A-4147-A177-3AD203B41FA5}">
                      <a16:colId xmlns:a16="http://schemas.microsoft.com/office/drawing/2014/main" val="41792407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Subsystem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Responsibility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59292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Power Supply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Gavin Bernard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73557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Signal Generator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Gavin Bernard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307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Mobile Application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Evan Slyter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98194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Multimeter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Maylun Huang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3038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Oscilloscope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</a:rPr>
                        <a:t>Maylun Huang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46997"/>
                  </a:ext>
                </a:extLst>
              </a:tr>
            </a:tbl>
          </a:graphicData>
        </a:graphic>
      </p:graphicFrame>
      <p:pic>
        <p:nvPicPr>
          <p:cNvPr id="5" name="Picture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FB69FF47-4A1F-8F14-D43A-873FCDB1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42" y="1692021"/>
            <a:ext cx="6619875" cy="2876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C3208A-1B0C-BCF5-0D17-62F49D000555}"/>
              </a:ext>
            </a:extLst>
          </p:cNvPr>
          <p:cNvSpPr txBox="1"/>
          <p:nvPr/>
        </p:nvSpPr>
        <p:spPr>
          <a:xfrm>
            <a:off x="7876032" y="2142744"/>
            <a:ext cx="99974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6AA84F"/>
                </a:solidFill>
                <a:latin typeface="Arial"/>
                <a:ea typeface="Arial"/>
                <a:cs typeface="Arial"/>
              </a:rPr>
              <a:t>PCB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A9433-8FB2-60B3-5715-FCBDAF60C723}"/>
              </a:ext>
            </a:extLst>
          </p:cNvPr>
          <p:cNvSpPr txBox="1"/>
          <p:nvPr/>
        </p:nvSpPr>
        <p:spPr>
          <a:xfrm>
            <a:off x="384048" y="4020312"/>
            <a:ext cx="158496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baseline="0">
                <a:solidFill>
                  <a:srgbClr val="E69138"/>
                </a:solidFill>
                <a:latin typeface="Arial"/>
              </a:rPr>
              <a:t>Software</a:t>
            </a:r>
            <a:r>
              <a:rPr lang="en-US" sz="1800" baseline="0">
                <a:latin typeface="Arial"/>
              </a:rPr>
              <a:t> </a:t>
            </a:r>
            <a:endParaRPr lang="en-US"/>
          </a:p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02D2E-89B6-44DB-138B-1438BC3AEB5A}"/>
              </a:ext>
            </a:extLst>
          </p:cNvPr>
          <p:cNvSpPr/>
          <p:nvPr/>
        </p:nvSpPr>
        <p:spPr>
          <a:xfrm>
            <a:off x="987552" y="1844040"/>
            <a:ext cx="2737104" cy="2005584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920486-B99E-C9F8-F9BC-A797994322A0}"/>
              </a:ext>
            </a:extLst>
          </p:cNvPr>
          <p:cNvSpPr/>
          <p:nvPr/>
        </p:nvSpPr>
        <p:spPr>
          <a:xfrm>
            <a:off x="3749040" y="1709927"/>
            <a:ext cx="4023360" cy="2676144"/>
          </a:xfrm>
          <a:prstGeom prst="rect">
            <a:avLst/>
          </a:prstGeom>
          <a:noFill/>
          <a:ln w="28575">
            <a:solidFill>
              <a:srgbClr val="6AA94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5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/>
              <a:t>Major Project Changes for 404 </a:t>
            </a: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3290" y="2135331"/>
            <a:ext cx="79513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No changes have been made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12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119B09-87CA-23BF-860C-6A1395C74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93089"/>
              </p:ext>
            </p:extLst>
          </p:nvPr>
        </p:nvGraphicFramePr>
        <p:xfrm>
          <a:off x="219456" y="2066544"/>
          <a:ext cx="8710890" cy="2286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815">
                  <a:extLst>
                    <a:ext uri="{9D8B030D-6E8A-4147-A177-3AD203B41FA5}">
                      <a16:colId xmlns:a16="http://schemas.microsoft.com/office/drawing/2014/main" val="1760264935"/>
                    </a:ext>
                  </a:extLst>
                </a:gridCol>
                <a:gridCol w="1451815">
                  <a:extLst>
                    <a:ext uri="{9D8B030D-6E8A-4147-A177-3AD203B41FA5}">
                      <a16:colId xmlns:a16="http://schemas.microsoft.com/office/drawing/2014/main" val="3087020905"/>
                    </a:ext>
                  </a:extLst>
                </a:gridCol>
                <a:gridCol w="1451815">
                  <a:extLst>
                    <a:ext uri="{9D8B030D-6E8A-4147-A177-3AD203B41FA5}">
                      <a16:colId xmlns:a16="http://schemas.microsoft.com/office/drawing/2014/main" val="3486093350"/>
                    </a:ext>
                  </a:extLst>
                </a:gridCol>
                <a:gridCol w="1451815">
                  <a:extLst>
                    <a:ext uri="{9D8B030D-6E8A-4147-A177-3AD203B41FA5}">
                      <a16:colId xmlns:a16="http://schemas.microsoft.com/office/drawing/2014/main" val="3130388826"/>
                    </a:ext>
                  </a:extLst>
                </a:gridCol>
                <a:gridCol w="1451815">
                  <a:extLst>
                    <a:ext uri="{9D8B030D-6E8A-4147-A177-3AD203B41FA5}">
                      <a16:colId xmlns:a16="http://schemas.microsoft.com/office/drawing/2014/main" val="1438190564"/>
                    </a:ext>
                  </a:extLst>
                </a:gridCol>
                <a:gridCol w="1451815">
                  <a:extLst>
                    <a:ext uri="{9D8B030D-6E8A-4147-A177-3AD203B41FA5}">
                      <a16:colId xmlns:a16="http://schemas.microsoft.com/office/drawing/2014/main" val="2240046838"/>
                    </a:ext>
                  </a:extLst>
                </a:gridCol>
              </a:tblGrid>
              <a:tr h="44540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4/20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786082"/>
                  </a:ext>
                </a:extLst>
              </a:tr>
              <a:tr h="1841035"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Validate subsystems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PCB integration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 err="1"/>
                        <a:t>Labkit</a:t>
                      </a:r>
                      <a:r>
                        <a:rPr lang="en-US" sz="1400" dirty="0"/>
                        <a:t> BLE output seen by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Finalize PCB design and order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Start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Fully soldered PCB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App integration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Integration complete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Debugging and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Final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Final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835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05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>
                <a:cs typeface="Arial"/>
              </a:rPr>
              <a:t>Power Supply/Signal Generator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Gavin Bernard</a:t>
            </a:r>
            <a:endParaRPr sz="2980"/>
          </a:p>
        </p:txBody>
      </p:sp>
      <p:graphicFrame>
        <p:nvGraphicFramePr>
          <p:cNvPr id="83" name="Google Shape;83;p5"/>
          <p:cNvGraphicFramePr/>
          <p:nvPr>
            <p:extLst>
              <p:ext uri="{D42A27DB-BD31-4B8C-83A1-F6EECF244321}">
                <p14:modId xmlns:p14="http://schemas.microsoft.com/office/powerpoint/2010/main" val="820308887"/>
              </p:ext>
            </p:extLst>
          </p:nvPr>
        </p:nvGraphicFramePr>
        <p:xfrm>
          <a:off x="685800" y="1952075"/>
          <a:ext cx="7772400" cy="23749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Accomplishments since</a:t>
                      </a:r>
                      <a:r>
                        <a:rPr lang="en-US" sz="1800" u="none" strike="noStrike" cap="none" baseline="0"/>
                        <a:t> 403</a:t>
                      </a:r>
                      <a:r>
                        <a:rPr lang="en-US" sz="1800" u="none" strike="noStrike" cap="none"/>
                        <a:t>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 10 </a:t>
                      </a:r>
                      <a:r>
                        <a:rPr lang="en-US" sz="1800" u="none" strike="noStrike" cap="none" err="1">
                          <a:solidFill>
                            <a:srgbClr val="C00000"/>
                          </a:solidFill>
                        </a:rPr>
                        <a:t>hrs</a:t>
                      </a:r>
                      <a:r>
                        <a:rPr lang="en-US" sz="1800" u="none" strike="noStrike" cap="none">
                          <a:solidFill>
                            <a:srgbClr val="C00000"/>
                          </a:solidFill>
                        </a:rPr>
                        <a:t> of effort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Ongoing progress/problems and plans until the next presentation</a:t>
                      </a:r>
                      <a:endParaRPr/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600"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Redesign for constant voltage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High current testing</a:t>
                      </a: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/>
                        <a:t>Combine to one PCB</a:t>
                      </a:r>
                      <a:endParaRPr lang="en-US"/>
                    </a:p>
                    <a:p>
                      <a:pPr marL="285750" marR="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/>
                        <a:t>Connect the signal generator and the varied voltage to app</a:t>
                      </a:r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42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2;p5">
            <a:extLst>
              <a:ext uri="{FF2B5EF4-FFF2-40B4-BE49-F238E27FC236}">
                <a16:creationId xmlns:a16="http://schemas.microsoft.com/office/drawing/2014/main" id="{3A0D15F4-0058-02B6-475C-4302EB6A1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  <a:buFont typeface="Arial"/>
            </a:pPr>
            <a:r>
              <a:rPr lang="en-US">
                <a:cs typeface="Arial"/>
              </a:rPr>
              <a:t>Power Supply/Signal Generator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 sz="1600">
                <a:cs typeface="Arial"/>
              </a:rPr>
              <a:t>Gavin Bernard</a:t>
            </a:r>
          </a:p>
        </p:txBody>
      </p:sp>
      <p:sp>
        <p:nvSpPr>
          <p:cNvPr id="88" name="Google Shape;88;gcce58aab64_3_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4559204"/>
            <a:ext cx="8229600" cy="156706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360"/>
              </a:spcBef>
            </a:pPr>
            <a:r>
              <a:rPr lang="en-US" sz="1600">
                <a:cs typeface="Arial"/>
              </a:rPr>
              <a:t>Removal of Jumper Cables</a:t>
            </a:r>
          </a:p>
          <a:p>
            <a:pPr>
              <a:spcBef>
                <a:spcPts val="360"/>
              </a:spcBef>
            </a:pPr>
            <a:r>
              <a:rPr lang="en-US" sz="1600">
                <a:cs typeface="Arial"/>
              </a:rPr>
              <a:t>Integrated ESP 32</a:t>
            </a:r>
          </a:p>
          <a:p>
            <a:pPr>
              <a:spcBef>
                <a:spcPts val="360"/>
              </a:spcBef>
            </a:pPr>
            <a:r>
              <a:rPr lang="en-US" sz="1600">
                <a:cs typeface="Arial"/>
              </a:rPr>
              <a:t>Adjust the Signal Generator to reach edge cases</a:t>
            </a:r>
          </a:p>
          <a:p>
            <a:pPr>
              <a:spcBef>
                <a:spcPts val="360"/>
              </a:spcBef>
            </a:pPr>
            <a:r>
              <a:rPr lang="en-US" sz="1600">
                <a:cs typeface="Arial"/>
              </a:rPr>
              <a:t>More compact design for constant outputs</a:t>
            </a:r>
          </a:p>
        </p:txBody>
      </p:sp>
      <p:pic>
        <p:nvPicPr>
          <p:cNvPr id="3" name="Picture 2" descr="A green circuit board on a blue plastic tray">
            <a:extLst>
              <a:ext uri="{FF2B5EF4-FFF2-40B4-BE49-F238E27FC236}">
                <a16:creationId xmlns:a16="http://schemas.microsoft.com/office/drawing/2014/main" id="{552B81BF-205F-5CA2-177B-FBB4D36FAF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19" t="11532" r="25940" b="10585"/>
          <a:stretch>
            <a:fillRect/>
          </a:stretch>
        </p:blipFill>
        <p:spPr>
          <a:xfrm rot="16200000">
            <a:off x="3381604" y="229877"/>
            <a:ext cx="2372982" cy="587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9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6F412F2B-ECB0-2F07-F2D5-5ED91E64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>
            <a:extLst>
              <a:ext uri="{FF2B5EF4-FFF2-40B4-BE49-F238E27FC236}">
                <a16:creationId xmlns:a16="http://schemas.microsoft.com/office/drawing/2014/main" id="{76655135-58DB-B2CB-6F88-4D84231C74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/>
              <a:t>Measurement Subsystem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 sz="1600" err="1"/>
              <a:t>Maylun</a:t>
            </a:r>
            <a:r>
              <a:rPr lang="en-US" sz="1600"/>
              <a:t> Huang</a:t>
            </a:r>
            <a:endParaRPr sz="2980"/>
          </a:p>
        </p:txBody>
      </p:sp>
      <p:graphicFrame>
        <p:nvGraphicFramePr>
          <p:cNvPr id="83" name="Google Shape;83;p5">
            <a:extLst>
              <a:ext uri="{FF2B5EF4-FFF2-40B4-BE49-F238E27FC236}">
                <a16:creationId xmlns:a16="http://schemas.microsoft.com/office/drawing/2014/main" id="{4968A784-AA87-178F-42C5-B2C4E57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638343"/>
              </p:ext>
            </p:extLst>
          </p:nvPr>
        </p:nvGraphicFramePr>
        <p:xfrm>
          <a:off x="685800" y="2080091"/>
          <a:ext cx="7772400" cy="23749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Accomplishments since</a:t>
                      </a:r>
                      <a:r>
                        <a:rPr lang="en-US" sz="1800" u="none" strike="noStrike" cap="none" baseline="0"/>
                        <a:t> 403</a:t>
                      </a:r>
                      <a:r>
                        <a:rPr lang="en-US" sz="1800" u="none" strike="noStrike" cap="none"/>
                        <a:t>                          6</a:t>
                      </a:r>
                      <a:r>
                        <a:rPr lang="en-US" sz="1800" u="none" strike="noStrike" cap="none">
                          <a:solidFill>
                            <a:srgbClr val="C00000"/>
                          </a:solidFill>
                        </a:rPr>
                        <a:t> hrs of effort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Ongoing progress/problems and plans until the next presentation</a:t>
                      </a:r>
                      <a:endParaRPr/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600"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/>
                        <a:t>Validated multimeter results</a:t>
                      </a:r>
                      <a:endParaRPr lang="en-US"/>
                    </a:p>
                    <a:p>
                      <a:pPr marL="285750" marR="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/>
                        <a:t>Adjusted ohmmeter to better suit measurement ranges</a:t>
                      </a:r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/>
                        <a:t>Combine PCB design with Power Generation subsystem </a:t>
                      </a:r>
                      <a:endParaRPr sz="1800" baseline="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096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12B656E-AD0F-DA28-B4AA-C9CF0030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2;p5">
            <a:extLst>
              <a:ext uri="{FF2B5EF4-FFF2-40B4-BE49-F238E27FC236}">
                <a16:creationId xmlns:a16="http://schemas.microsoft.com/office/drawing/2014/main" id="{DC772121-C060-945E-A2D3-B925826D4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4999"/>
              </a:lnSpc>
              <a:spcBef>
                <a:spcPts val="0"/>
              </a:spcBef>
            </a:pPr>
            <a:r>
              <a:rPr lang="en-US"/>
              <a:t>Measurement Subsystem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 sz="1600" err="1"/>
              <a:t>Maylun</a:t>
            </a:r>
            <a:r>
              <a:rPr lang="en-US" sz="1600"/>
              <a:t> Huang</a:t>
            </a:r>
            <a:endParaRPr lang="en-US" sz="298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985BDF-C23F-0CB6-39ED-F6E4C02A1356}"/>
              </a:ext>
            </a:extLst>
          </p:cNvPr>
          <p:cNvSpPr txBox="1"/>
          <p:nvPr/>
        </p:nvSpPr>
        <p:spPr>
          <a:xfrm>
            <a:off x="232435" y="2370361"/>
            <a:ext cx="3710103" cy="2949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cs typeface="Arial"/>
              </a:rPr>
              <a:t>Validated PCB</a:t>
            </a:r>
            <a:endParaRPr lang="en-US"/>
          </a:p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cs typeface="Arial"/>
              </a:rPr>
              <a:t>Adjusting ammeter to measure larger range</a:t>
            </a:r>
          </a:p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cs typeface="Arial"/>
              </a:rPr>
              <a:t>Adjusting layout to remove polygons and jumper wires</a:t>
            </a:r>
          </a:p>
          <a:p>
            <a:pPr marL="57150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cs typeface="Arial"/>
              </a:rPr>
              <a:t>MCU transition from dev-kit to PCB</a:t>
            </a:r>
          </a:p>
        </p:txBody>
      </p:sp>
      <p:pic>
        <p:nvPicPr>
          <p:cNvPr id="3" name="Picture 2" descr="A green circuit board with red wires and white text&#10;&#10;AI-generated content may be incorrect.">
            <a:extLst>
              <a:ext uri="{FF2B5EF4-FFF2-40B4-BE49-F238E27FC236}">
                <a16:creationId xmlns:a16="http://schemas.microsoft.com/office/drawing/2014/main" id="{F5879BE3-0CDF-27CB-3C50-5AEA9754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57" y="2109787"/>
            <a:ext cx="4413885" cy="407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94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E2E79235-BA26-1295-3E75-E182F636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>
            <a:extLst>
              <a:ext uri="{FF2B5EF4-FFF2-40B4-BE49-F238E27FC236}">
                <a16:creationId xmlns:a16="http://schemas.microsoft.com/office/drawing/2014/main" id="{67EB409F-7CF4-79B8-FF7F-E6FF13BEB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/>
              <a:t>Mobile App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 sz="1600">
                <a:cs typeface="Arial"/>
              </a:rPr>
              <a:t>Evan Slyter</a:t>
            </a:r>
          </a:p>
        </p:txBody>
      </p:sp>
      <p:graphicFrame>
        <p:nvGraphicFramePr>
          <p:cNvPr id="83" name="Google Shape;83;p5">
            <a:extLst>
              <a:ext uri="{FF2B5EF4-FFF2-40B4-BE49-F238E27FC236}">
                <a16:creationId xmlns:a16="http://schemas.microsoft.com/office/drawing/2014/main" id="{3AE8F4E8-F698-FBE9-EB79-ACEB613A42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5912543"/>
              </p:ext>
            </p:extLst>
          </p:nvPr>
        </p:nvGraphicFramePr>
        <p:xfrm>
          <a:off x="685800" y="1952075"/>
          <a:ext cx="7772400" cy="23749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Accomplishments since</a:t>
                      </a:r>
                      <a:r>
                        <a:rPr lang="en-US" sz="1800" u="none" strike="noStrike" cap="none" baseline="0"/>
                        <a:t> 403</a:t>
                      </a:r>
                      <a:r>
                        <a:rPr lang="en-US" sz="1800" u="none" strike="noStrike" cap="none"/>
                        <a:t>                          4</a:t>
                      </a: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</a:rPr>
                        <a:t> </a:t>
                      </a:r>
                      <a:r>
                        <a:rPr lang="en-US" sz="1800" u="none" strike="noStrike" cap="none">
                          <a:solidFill>
                            <a:srgbClr val="C00000"/>
                          </a:solidFill>
                        </a:rPr>
                        <a:t>hrs of effort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Ongoing progress/problems and plans until the next presentation</a:t>
                      </a:r>
                      <a:endParaRPr/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600"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/>
                        <a:t>Ensured app is still in same condition as 403</a:t>
                      </a:r>
                      <a:endParaRPr lang="en-US" sz="1800" baseline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aseline="0"/>
                        <a:t>Use BLE output from other device and receive data on app</a:t>
                      </a:r>
                    </a:p>
                    <a:p>
                      <a:pPr marL="285750" marR="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aseline="0"/>
                        <a:t>Modeling main body of </a:t>
                      </a:r>
                      <a:r>
                        <a:rPr lang="en-US" sz="1800" baseline="0" err="1"/>
                        <a:t>labkit</a:t>
                      </a:r>
                    </a:p>
                    <a:p>
                      <a:pPr marL="285750" marR="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800" baseline="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4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B1126E0-6145-5A20-1F9A-839D68BF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2;p5">
            <a:extLst>
              <a:ext uri="{FF2B5EF4-FFF2-40B4-BE49-F238E27FC236}">
                <a16:creationId xmlns:a16="http://schemas.microsoft.com/office/drawing/2014/main" id="{25E7D00F-559B-75FE-381D-D5803E77DD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>
                <a:cs typeface="Arial"/>
              </a:rPr>
              <a:t>Mobile App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 sz="1600">
                <a:cs typeface="Arial"/>
              </a:rPr>
              <a:t>Evan Slyter</a:t>
            </a:r>
          </a:p>
        </p:txBody>
      </p:sp>
      <p:sp>
        <p:nvSpPr>
          <p:cNvPr id="88" name="Google Shape;88;gcce58aab64_3_0">
            <a:extLst>
              <a:ext uri="{FF2B5EF4-FFF2-40B4-BE49-F238E27FC236}">
                <a16:creationId xmlns:a16="http://schemas.microsoft.com/office/drawing/2014/main" id="{F59E24FF-BAEF-52CE-FC6A-0A96E76C3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360"/>
              </a:spcBef>
              <a:buNone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5141E-0404-171D-5CC4-023592C543FD}"/>
              </a:ext>
            </a:extLst>
          </p:cNvPr>
          <p:cNvSpPr txBox="1"/>
          <p:nvPr/>
        </p:nvSpPr>
        <p:spPr>
          <a:xfrm>
            <a:off x="6154924" y="3427757"/>
            <a:ext cx="2753031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cs typeface="Arial"/>
              </a:rPr>
              <a:t>-Labs fully implemented</a:t>
            </a:r>
          </a:p>
          <a:p>
            <a:r>
              <a:rPr lang="en-US">
                <a:cs typeface="Arial"/>
              </a:rPr>
              <a:t>-BLE scanning in progress</a:t>
            </a:r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EEB08DA-52EE-3016-574F-0B05E328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" y="0"/>
            <a:ext cx="3166599" cy="6858000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5B444904-D46F-A69B-3EBD-E5B8951F5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910" y="0"/>
            <a:ext cx="31421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3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90C1CB0-7841-6F89-6D2C-71ADA3A3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2;p5">
            <a:extLst>
              <a:ext uri="{FF2B5EF4-FFF2-40B4-BE49-F238E27FC236}">
                <a16:creationId xmlns:a16="http://schemas.microsoft.com/office/drawing/2014/main" id="{1AD57B75-1C20-ABA0-7B29-B0026E3A3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>
                <a:cs typeface="Arial"/>
              </a:rPr>
              <a:t>3D Model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990"/>
            </a:pPr>
            <a:r>
              <a:rPr lang="en-US" sz="1600">
                <a:cs typeface="Arial"/>
              </a:rPr>
              <a:t>Evan Slyter</a:t>
            </a:r>
          </a:p>
        </p:txBody>
      </p:sp>
      <p:sp>
        <p:nvSpPr>
          <p:cNvPr id="88" name="Google Shape;88;gcce58aab64_3_0">
            <a:extLst>
              <a:ext uri="{FF2B5EF4-FFF2-40B4-BE49-F238E27FC236}">
                <a16:creationId xmlns:a16="http://schemas.microsoft.com/office/drawing/2014/main" id="{11173370-336F-C646-17C5-256D0F23E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12489" y="2042776"/>
            <a:ext cx="2274311" cy="408349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360"/>
              </a:spcBef>
              <a:buNone/>
            </a:pPr>
            <a:r>
              <a:rPr lang="en-US" sz="1600">
                <a:cs typeface="Arial"/>
              </a:rPr>
              <a:t>-Basic model</a:t>
            </a:r>
          </a:p>
          <a:p>
            <a:pPr marL="0" indent="0">
              <a:spcBef>
                <a:spcPts val="360"/>
              </a:spcBef>
              <a:buNone/>
            </a:pPr>
            <a:r>
              <a:rPr lang="en-US" sz="1600">
                <a:cs typeface="Arial"/>
              </a:rPr>
              <a:t>-Dimensions needed from PCB</a:t>
            </a:r>
          </a:p>
          <a:p>
            <a:pPr marL="0" indent="0">
              <a:spcBef>
                <a:spcPts val="360"/>
              </a:spcBef>
              <a:buNone/>
            </a:pPr>
            <a:r>
              <a:rPr lang="en-US" sz="1600">
                <a:cs typeface="Arial"/>
              </a:rPr>
              <a:t>-Undecided if sealed/openable</a:t>
            </a:r>
          </a:p>
        </p:txBody>
      </p:sp>
      <p:pic>
        <p:nvPicPr>
          <p:cNvPr id="5" name="Picture 4" descr="A blue box with a square opening&#10;&#10;AI-generated content may be incorrect.">
            <a:extLst>
              <a:ext uri="{FF2B5EF4-FFF2-40B4-BE49-F238E27FC236}">
                <a16:creationId xmlns:a16="http://schemas.microsoft.com/office/drawing/2014/main" id="{2455218C-498A-6D25-CFD3-B2DE25C34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97" y="2032721"/>
            <a:ext cx="6267597" cy="48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9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44F472-9517-F0E1-563F-4C5E5335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Parts Ordering Status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41854" y="1852186"/>
            <a:ext cx="7263217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Times New Roman"/>
              </a:rPr>
              <a:t>Final PCB &amp; components remain to be ordered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F1370E-5ABE-D8DD-2F8C-3A339AA9D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Execution &amp;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22CDE-CB9E-4593-CB01-5D72C111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8" y="2344348"/>
            <a:ext cx="8886423" cy="328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9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181BCEE4-792D-1333-ED90-77273D12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0E407D-282C-310D-0B97-06F26016C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428" y="255294"/>
            <a:ext cx="8235950" cy="803756"/>
          </a:xfrm>
        </p:spPr>
        <p:txBody>
          <a:bodyPr anchor="t"/>
          <a:lstStyle/>
          <a:p>
            <a:r>
              <a:rPr lang="en-US"/>
              <a:t>Validation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6D08DD-F1F9-138A-9F1A-CA3DE3B0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31" y="946004"/>
            <a:ext cx="7359477" cy="576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42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a11958be6_0_2"/>
          <p:cNvSpPr txBox="1">
            <a:spLocks noGrp="1"/>
          </p:cNvSpPr>
          <p:nvPr>
            <p:ph type="title" idx="4294967295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spcBef>
                <a:spcPts val="360"/>
              </a:spcBef>
              <a:buFont typeface="Arial"/>
              <a:defRPr/>
            </a:pPr>
            <a:br>
              <a:rPr lang="en-US" sz="3200" b="1">
                <a:latin typeface="+mn-lt"/>
                <a:ea typeface="+mn-ea"/>
                <a:cs typeface="Arial"/>
              </a:rPr>
            </a:br>
            <a:br>
              <a:rPr lang="en-US" sz="3200" b="1">
                <a:latin typeface="+mn-lt"/>
                <a:ea typeface="+mn-ea"/>
                <a:cs typeface="+mn-cs"/>
              </a:rPr>
            </a:br>
            <a:r>
              <a:rPr lang="en-US" sz="3200" b="1">
                <a:ea typeface="+mn-ea"/>
                <a:cs typeface="Arial"/>
              </a:rPr>
              <a:t>Questions?</a:t>
            </a:r>
            <a:endParaRPr lang="en-US"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897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9179cbc-72aa-4872-8f5d-94cb765b24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0944401B910B49B41B485B97C36C5F" ma:contentTypeVersion="5" ma:contentTypeDescription="Create a new document." ma:contentTypeScope="" ma:versionID="c2c7b84c9970755ef300c56d830c571b">
  <xsd:schema xmlns:xsd="http://www.w3.org/2001/XMLSchema" xmlns:xs="http://www.w3.org/2001/XMLSchema" xmlns:p="http://schemas.microsoft.com/office/2006/metadata/properties" xmlns:ns3="e9179cbc-72aa-4872-8f5d-94cb765b2445" targetNamespace="http://schemas.microsoft.com/office/2006/metadata/properties" ma:root="true" ma:fieldsID="9ab542fcd9a3cdf9febc8540a082718c" ns3:_="">
    <xsd:import namespace="e9179cbc-72aa-4872-8f5d-94cb765b244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179cbc-72aa-4872-8f5d-94cb765b24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8E06B0-02A8-4A54-80AE-1A65915AD88A}">
  <ds:schemaRefs>
    <ds:schemaRef ds:uri="e9179cbc-72aa-4872-8f5d-94cb765b244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4BB42F1-0061-46B5-A3D7-B1CE787545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005B58-090D-42E0-8A5C-74683BFB5B80}">
  <ds:schemaRefs>
    <ds:schemaRef ds:uri="e9179cbc-72aa-4872-8f5d-94cb765b244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Team 54: ECEN 215 Lab Kit Bi-Weekly Update 1 Gavin Bernard, Maylun Huang, Evan Slyter Sponsor: Professor Lusher TA: Hailey Ward </vt:lpstr>
      <vt:lpstr>PowerPoint Presentation</vt:lpstr>
      <vt:lpstr>Project/Subsystem Overview</vt:lpstr>
      <vt:lpstr>Major Project Changes for 404 </vt:lpstr>
      <vt:lpstr>Project Timeline</vt:lpstr>
      <vt:lpstr>Power Supply/Signal Generator Gavin Bernard</vt:lpstr>
      <vt:lpstr>Power Supply/Signal Generator Gavin Bernard</vt:lpstr>
      <vt:lpstr>Measurement Subsystem Maylun Huang</vt:lpstr>
      <vt:lpstr>Measurement Subsystem Maylun Huang</vt:lpstr>
      <vt:lpstr>Mobile App Evan Slyter</vt:lpstr>
      <vt:lpstr>Mobile App Evan Slyter</vt:lpstr>
      <vt:lpstr>3D Model Evan Slyter</vt:lpstr>
      <vt:lpstr>Parts Ordering Status</vt:lpstr>
      <vt:lpstr>Execution &amp; Plan</vt:lpstr>
      <vt:lpstr>Validation</vt:lpstr>
      <vt:lpstr> 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Nowka, Kevin J.</dc:creator>
  <cp:revision>68</cp:revision>
  <dcterms:created xsi:type="dcterms:W3CDTF">2013-06-18T16:37:55Z</dcterms:created>
  <dcterms:modified xsi:type="dcterms:W3CDTF">2026-01-21T22:19:43Z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9</vt:lpwstr>
  </property>
  <property fmtid="{D5CDD505-2E9C-101B-9397-08002B2CF9AE}" pid="3" name="ContentTypeId">
    <vt:lpwstr>0x010100A20944401B910B49B41B485B97C36C5F</vt:lpwstr>
  </property>
</Properties>
</file>