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555">
          <p15:clr>
            <a:srgbClr val="747775"/>
          </p15:clr>
        </p15:guide>
        <p15:guide id="2" pos="13824">
          <p15:clr>
            <a:srgbClr val="747775"/>
          </p15:clr>
        </p15:guide>
        <p15:guide id="3" pos="6912">
          <p15:clr>
            <a:srgbClr val="747775"/>
          </p15:clr>
        </p15:guide>
      </p15:sldGuideLst>
    </p:ext>
    <p:ext uri="GoogleSlidesCustomDataVersion2">
      <go:slidesCustomData xmlns:go="http://customooxmlschemas.google.com/" r:id="rId7" roundtripDataSignature="AMtx7mhG/82C5VxNFcYH8ri3h/jJ8EQk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555" orient="horz"/>
        <p:guide pos="13824"/>
        <p:guide pos="691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d8a0b6a2ee_0_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7" name="Google Shape;37;g3d8a0b6a2ee_0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g3d8a0b6a2ee_0_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Image">
  <p:cSld name="Background Image">
    <p:spTree>
      <p:nvGrpSpPr>
        <p:cNvPr id="18" name="Shape 18"/>
        <p:cNvGrpSpPr/>
        <p:nvPr/>
      </p:nvGrpSpPr>
      <p:grpSpPr>
        <a:xfrm>
          <a:off x="0" y="0"/>
          <a:ext cx="0" cy="0"/>
          <a:chOff x="0" y="0"/>
          <a:chExt cx="0" cy="0"/>
        </a:xfrm>
      </p:grpSpPr>
      <p:sp>
        <p:nvSpPr>
          <p:cNvPr id="19" name="Google Shape;19;p3"/>
          <p:cNvSpPr txBox="1"/>
          <p:nvPr>
            <p:ph type="title"/>
          </p:nvPr>
        </p:nvSpPr>
        <p:spPr>
          <a:xfrm>
            <a:off x="7772400" y="457200"/>
            <a:ext cx="28346400" cy="4572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6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 name="Google Shape;20;p3"/>
          <p:cNvSpPr txBox="1"/>
          <p:nvPr>
            <p:ph idx="1" type="body"/>
          </p:nvPr>
        </p:nvSpPr>
        <p:spPr>
          <a:xfrm>
            <a:off x="914400" y="6590021"/>
            <a:ext cx="9829800" cy="2400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1" i="0" sz="4800" u="sng" cap="none" strike="noStrike">
                <a:solidFill>
                  <a:srgbClr val="5D0025"/>
                </a:solidFill>
                <a:latin typeface="Arial"/>
                <a:ea typeface="Arial"/>
                <a:cs typeface="Arial"/>
                <a:sym typeface="Arial"/>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cxnSp>
        <p:nvCxnSpPr>
          <p:cNvPr id="21" name="Google Shape;21;p3"/>
          <p:cNvCxnSpPr/>
          <p:nvPr/>
        </p:nvCxnSpPr>
        <p:spPr>
          <a:xfrm>
            <a:off x="11201400" y="6400800"/>
            <a:ext cx="0" cy="24886364"/>
          </a:xfrm>
          <a:prstGeom prst="straightConnector1">
            <a:avLst/>
          </a:prstGeom>
          <a:noFill/>
          <a:ln cap="flat" cmpd="tri" w="76200">
            <a:solidFill>
              <a:schemeClr val="dk1"/>
            </a:solidFill>
            <a:prstDash val="solid"/>
            <a:round/>
            <a:headEnd len="med" w="med" type="oval"/>
            <a:tailEnd len="med" w="med" type="oval"/>
          </a:ln>
        </p:spPr>
      </p:cxnSp>
      <p:sp>
        <p:nvSpPr>
          <p:cNvPr id="22" name="Google Shape;22;p3"/>
          <p:cNvSpPr txBox="1"/>
          <p:nvPr>
            <p:ph idx="2" type="body"/>
          </p:nvPr>
        </p:nvSpPr>
        <p:spPr>
          <a:xfrm>
            <a:off x="11658600" y="6590020"/>
            <a:ext cx="9829800" cy="2400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1" i="0" sz="4800" u="sng" cap="none" strike="noStrike">
                <a:solidFill>
                  <a:srgbClr val="5D0025"/>
                </a:solidFill>
                <a:latin typeface="Arial"/>
                <a:ea typeface="Arial"/>
                <a:cs typeface="Arial"/>
                <a:sym typeface="Arial"/>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cxnSp>
        <p:nvCxnSpPr>
          <p:cNvPr id="23" name="Google Shape;23;p3"/>
          <p:cNvCxnSpPr/>
          <p:nvPr/>
        </p:nvCxnSpPr>
        <p:spPr>
          <a:xfrm>
            <a:off x="21945600" y="6400800"/>
            <a:ext cx="0" cy="24917400"/>
          </a:xfrm>
          <a:prstGeom prst="straightConnector1">
            <a:avLst/>
          </a:prstGeom>
          <a:noFill/>
          <a:ln cap="flat" cmpd="tri" w="76200">
            <a:solidFill>
              <a:schemeClr val="dk1"/>
            </a:solidFill>
            <a:prstDash val="solid"/>
            <a:round/>
            <a:headEnd len="med" w="med" type="oval"/>
            <a:tailEnd len="med" w="med" type="oval"/>
          </a:ln>
        </p:spPr>
      </p:cxnSp>
      <p:sp>
        <p:nvSpPr>
          <p:cNvPr id="24" name="Google Shape;24;p3"/>
          <p:cNvSpPr txBox="1"/>
          <p:nvPr>
            <p:ph idx="3" type="body"/>
          </p:nvPr>
        </p:nvSpPr>
        <p:spPr>
          <a:xfrm>
            <a:off x="22402800" y="6590020"/>
            <a:ext cx="9829800" cy="2400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1" i="0" sz="4800" u="sng" cap="none" strike="noStrike">
                <a:solidFill>
                  <a:srgbClr val="5D0025"/>
                </a:solidFill>
                <a:latin typeface="Arial"/>
                <a:ea typeface="Arial"/>
                <a:cs typeface="Arial"/>
                <a:sym typeface="Arial"/>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cxnSp>
        <p:nvCxnSpPr>
          <p:cNvPr id="25" name="Google Shape;25;p3"/>
          <p:cNvCxnSpPr/>
          <p:nvPr/>
        </p:nvCxnSpPr>
        <p:spPr>
          <a:xfrm>
            <a:off x="32689800" y="6400800"/>
            <a:ext cx="0" cy="24886364"/>
          </a:xfrm>
          <a:prstGeom prst="straightConnector1">
            <a:avLst/>
          </a:prstGeom>
          <a:noFill/>
          <a:ln cap="flat" cmpd="tri" w="76200">
            <a:solidFill>
              <a:schemeClr val="dk1"/>
            </a:solidFill>
            <a:prstDash val="solid"/>
            <a:round/>
            <a:headEnd len="med" w="med" type="oval"/>
            <a:tailEnd len="med" w="med" type="oval"/>
          </a:ln>
        </p:spPr>
      </p:cxnSp>
      <p:sp>
        <p:nvSpPr>
          <p:cNvPr id="26" name="Google Shape;26;p3"/>
          <p:cNvSpPr txBox="1"/>
          <p:nvPr>
            <p:ph idx="4" type="body"/>
          </p:nvPr>
        </p:nvSpPr>
        <p:spPr>
          <a:xfrm>
            <a:off x="33147000" y="6590020"/>
            <a:ext cx="9829800" cy="2400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1" i="0" sz="4800" u="sng" cap="none" strike="noStrike">
                <a:solidFill>
                  <a:srgbClr val="5D0025"/>
                </a:solidFill>
                <a:latin typeface="Arial"/>
                <a:ea typeface="Arial"/>
                <a:cs typeface="Arial"/>
                <a:sym typeface="Arial"/>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202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7" name="Shape 27"/>
        <p:cNvGrpSpPr/>
        <p:nvPr/>
      </p:nvGrpSpPr>
      <p:grpSpPr>
        <a:xfrm>
          <a:off x="0" y="0"/>
          <a:ext cx="0" cy="0"/>
          <a:chOff x="0" y="0"/>
          <a:chExt cx="0" cy="0"/>
        </a:xfrm>
      </p:grpSpPr>
      <p:sp>
        <p:nvSpPr>
          <p:cNvPr id="28" name="Google Shape;28;g3d8a0b6a2ee_0_54"/>
          <p:cNvSpPr/>
          <p:nvPr/>
        </p:nvSpPr>
        <p:spPr>
          <a:xfrm>
            <a:off x="0" y="0"/>
            <a:ext cx="43891200" cy="3291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g3d8a0b6a2ee_0_54"/>
          <p:cNvSpPr/>
          <p:nvPr/>
        </p:nvSpPr>
        <p:spPr>
          <a:xfrm>
            <a:off x="150" y="0"/>
            <a:ext cx="43891200" cy="4936500"/>
          </a:xfrm>
          <a:prstGeom prst="rect">
            <a:avLst/>
          </a:prstGeom>
          <a:solidFill>
            <a:schemeClr val="dk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 name="Google Shape;30;g3d8a0b6a2ee_0_54"/>
          <p:cNvSpPr/>
          <p:nvPr/>
        </p:nvSpPr>
        <p:spPr>
          <a:xfrm>
            <a:off x="150" y="31530425"/>
            <a:ext cx="43891200" cy="1388100"/>
          </a:xfrm>
          <a:prstGeom prst="rect">
            <a:avLst/>
          </a:prstGeom>
          <a:solidFill>
            <a:schemeClr val="dk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 name="Google Shape;31;g3d8a0b6a2ee_0_54" title="Screenshot_2026-04-22_at_4.33.39_PM-removebg-preview.png"/>
          <p:cNvPicPr preferRelativeResize="0"/>
          <p:nvPr/>
        </p:nvPicPr>
        <p:blipFill>
          <a:blip r:embed="rId2">
            <a:alphaModFix/>
          </a:blip>
          <a:stretch>
            <a:fillRect/>
          </a:stretch>
        </p:blipFill>
        <p:spPr>
          <a:xfrm>
            <a:off x="1016725" y="1022749"/>
            <a:ext cx="9389526" cy="2639750"/>
          </a:xfrm>
          <a:prstGeom prst="rect">
            <a:avLst/>
          </a:prstGeom>
          <a:noFill/>
          <a:ln>
            <a:noFill/>
          </a:ln>
        </p:spPr>
      </p:pic>
      <p:cxnSp>
        <p:nvCxnSpPr>
          <p:cNvPr id="32" name="Google Shape;32;g3d8a0b6a2ee_0_54"/>
          <p:cNvCxnSpPr/>
          <p:nvPr/>
        </p:nvCxnSpPr>
        <p:spPr>
          <a:xfrm>
            <a:off x="21945750" y="5565200"/>
            <a:ext cx="0" cy="25336500"/>
          </a:xfrm>
          <a:prstGeom prst="straightConnector1">
            <a:avLst/>
          </a:prstGeom>
          <a:noFill/>
          <a:ln cap="flat" cmpd="sng" w="76200">
            <a:solidFill>
              <a:schemeClr val="dk2"/>
            </a:solidFill>
            <a:prstDash val="solid"/>
            <a:round/>
            <a:headEnd len="med" w="med" type="none"/>
            <a:tailEnd len="med" w="med" type="none"/>
          </a:ln>
        </p:spPr>
      </p:cxnSp>
      <p:cxnSp>
        <p:nvCxnSpPr>
          <p:cNvPr id="33" name="Google Shape;33;g3d8a0b6a2ee_0_54"/>
          <p:cNvCxnSpPr/>
          <p:nvPr/>
        </p:nvCxnSpPr>
        <p:spPr>
          <a:xfrm>
            <a:off x="32918400" y="5565200"/>
            <a:ext cx="0" cy="25336500"/>
          </a:xfrm>
          <a:prstGeom prst="straightConnector1">
            <a:avLst/>
          </a:prstGeom>
          <a:noFill/>
          <a:ln cap="flat" cmpd="sng" w="76200">
            <a:solidFill>
              <a:schemeClr val="dk2"/>
            </a:solidFill>
            <a:prstDash val="solid"/>
            <a:round/>
            <a:headEnd len="med" w="med" type="none"/>
            <a:tailEnd len="med" w="med" type="none"/>
          </a:ln>
        </p:spPr>
      </p:cxnSp>
      <p:cxnSp>
        <p:nvCxnSpPr>
          <p:cNvPr id="34" name="Google Shape;34;g3d8a0b6a2ee_0_54"/>
          <p:cNvCxnSpPr/>
          <p:nvPr/>
        </p:nvCxnSpPr>
        <p:spPr>
          <a:xfrm>
            <a:off x="10973100" y="5565213"/>
            <a:ext cx="0" cy="2533650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0" y="0"/>
            <a:ext cx="43891200" cy="5486400"/>
          </a:xfrm>
          <a:prstGeom prst="rect">
            <a:avLst/>
          </a:prstGeom>
          <a:solidFill>
            <a:srgbClr val="5D002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900"/>
              <a:buFont typeface="Arial"/>
              <a:buNone/>
            </a:pPr>
            <a:r>
              <a:t/>
            </a:r>
            <a:endParaRPr b="0" i="0" sz="2900" u="none" cap="none" strike="noStrike">
              <a:solidFill>
                <a:schemeClr val="dk1"/>
              </a:solidFill>
              <a:latin typeface="Arial"/>
              <a:ea typeface="Arial"/>
              <a:cs typeface="Arial"/>
              <a:sym typeface="Arial"/>
            </a:endParaRPr>
          </a:p>
        </p:txBody>
      </p:sp>
      <p:sp>
        <p:nvSpPr>
          <p:cNvPr id="11" name="Google Shape;11;p2"/>
          <p:cNvSpPr/>
          <p:nvPr/>
        </p:nvSpPr>
        <p:spPr>
          <a:xfrm>
            <a:off x="0" y="5257801"/>
            <a:ext cx="43891200" cy="265176"/>
          </a:xfrm>
          <a:prstGeom prst="rect">
            <a:avLst/>
          </a:prstGeom>
          <a:solidFill>
            <a:srgbClr val="8D506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7258"/>
              <a:buFont typeface="Arial"/>
              <a:buNone/>
            </a:pPr>
            <a:r>
              <a:t/>
            </a:r>
            <a:endParaRPr b="0" i="0" sz="7258" u="none" cap="none" strike="noStrike">
              <a:solidFill>
                <a:schemeClr val="lt1"/>
              </a:solidFill>
              <a:latin typeface="Arial"/>
              <a:ea typeface="Arial"/>
              <a:cs typeface="Arial"/>
              <a:sym typeface="Arial"/>
            </a:endParaRPr>
          </a:p>
        </p:txBody>
      </p:sp>
      <p:sp>
        <p:nvSpPr>
          <p:cNvPr id="12" name="Google Shape;12;p2"/>
          <p:cNvSpPr/>
          <p:nvPr/>
        </p:nvSpPr>
        <p:spPr>
          <a:xfrm>
            <a:off x="0" y="31470600"/>
            <a:ext cx="43891200" cy="1447800"/>
          </a:xfrm>
          <a:prstGeom prst="rect">
            <a:avLst/>
          </a:prstGeom>
          <a:solidFill>
            <a:srgbClr val="5D002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900"/>
              <a:buFont typeface="Arial"/>
              <a:buNone/>
            </a:pPr>
            <a:r>
              <a:t/>
            </a:r>
            <a:endParaRPr b="0" i="0" sz="2900" u="none" cap="none" strike="noStrike">
              <a:solidFill>
                <a:schemeClr val="dk1"/>
              </a:solidFill>
              <a:latin typeface="Arial"/>
              <a:ea typeface="Arial"/>
              <a:cs typeface="Arial"/>
              <a:sym typeface="Arial"/>
            </a:endParaRPr>
          </a:p>
        </p:txBody>
      </p:sp>
      <p:cxnSp>
        <p:nvCxnSpPr>
          <p:cNvPr id="13" name="Google Shape;13;p2"/>
          <p:cNvCxnSpPr/>
          <p:nvPr/>
        </p:nvCxnSpPr>
        <p:spPr>
          <a:xfrm>
            <a:off x="31543262" y="30837464"/>
            <a:ext cx="0" cy="1588169"/>
          </a:xfrm>
          <a:prstGeom prst="straightConnector1">
            <a:avLst/>
          </a:prstGeom>
          <a:noFill/>
          <a:ln cap="flat" cmpd="sng" w="25400">
            <a:solidFill>
              <a:schemeClr val="lt1"/>
            </a:solidFill>
            <a:prstDash val="dash"/>
            <a:miter lim="800000"/>
            <a:headEnd len="sm" w="sm" type="none"/>
            <a:tailEnd len="sm" w="sm" type="none"/>
          </a:ln>
        </p:spPr>
      </p:cxnSp>
      <p:pic>
        <p:nvPicPr>
          <p:cNvPr descr="TAMU Logo" id="14" name="Google Shape;14;p2"/>
          <p:cNvPicPr preferRelativeResize="0"/>
          <p:nvPr/>
        </p:nvPicPr>
        <p:blipFill rotWithShape="1">
          <a:blip r:embed="rId1">
            <a:alphaModFix/>
          </a:blip>
          <a:srcRect b="0" l="0" r="0" t="0"/>
          <a:stretch/>
        </p:blipFill>
        <p:spPr>
          <a:xfrm>
            <a:off x="0" y="12943"/>
            <a:ext cx="30808245" cy="2503724"/>
          </a:xfrm>
          <a:prstGeom prst="rect">
            <a:avLst/>
          </a:prstGeom>
          <a:noFill/>
          <a:ln>
            <a:noFill/>
          </a:ln>
        </p:spPr>
      </p:pic>
      <p:pic>
        <p:nvPicPr>
          <p:cNvPr id="15" name="Google Shape;15;p2"/>
          <p:cNvPicPr preferRelativeResize="0"/>
          <p:nvPr/>
        </p:nvPicPr>
        <p:blipFill rotWithShape="1">
          <a:blip r:embed="rId1">
            <a:alphaModFix/>
          </a:blip>
          <a:srcRect b="0" l="65059" r="0" t="0"/>
          <a:stretch/>
        </p:blipFill>
        <p:spPr>
          <a:xfrm>
            <a:off x="1" y="31434024"/>
            <a:ext cx="43939859" cy="1471433"/>
          </a:xfrm>
          <a:prstGeom prst="rect">
            <a:avLst/>
          </a:prstGeom>
          <a:noFill/>
          <a:ln>
            <a:noFill/>
          </a:ln>
        </p:spPr>
      </p:pic>
      <p:pic>
        <p:nvPicPr>
          <p:cNvPr id="16" name="Google Shape;16;p2"/>
          <p:cNvPicPr preferRelativeResize="0"/>
          <p:nvPr/>
        </p:nvPicPr>
        <p:blipFill rotWithShape="1">
          <a:blip r:embed="rId1">
            <a:alphaModFix/>
          </a:blip>
          <a:srcRect b="0" l="65059" r="0" t="0"/>
          <a:stretch/>
        </p:blipFill>
        <p:spPr>
          <a:xfrm>
            <a:off x="1" y="5120640"/>
            <a:ext cx="43891201" cy="365760"/>
          </a:xfrm>
          <a:prstGeom prst="rect">
            <a:avLst/>
          </a:prstGeom>
          <a:noFill/>
          <a:ln>
            <a:noFill/>
          </a:ln>
        </p:spPr>
      </p:pic>
      <p:pic>
        <p:nvPicPr>
          <p:cNvPr id="17" name="Google Shape;17;p2"/>
          <p:cNvPicPr preferRelativeResize="0"/>
          <p:nvPr/>
        </p:nvPicPr>
        <p:blipFill rotWithShape="1">
          <a:blip r:embed="rId1">
            <a:alphaModFix/>
          </a:blip>
          <a:srcRect b="0" l="65059" r="0" t="0"/>
          <a:stretch/>
        </p:blipFill>
        <p:spPr>
          <a:xfrm>
            <a:off x="36157168" y="0"/>
            <a:ext cx="7734033" cy="298267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2.jpg"/><Relationship Id="rId10" Type="http://schemas.openxmlformats.org/officeDocument/2006/relationships/image" Target="../media/image4.png"/><Relationship Id="rId13" Type="http://schemas.openxmlformats.org/officeDocument/2006/relationships/image" Target="../media/image6.png"/><Relationship Id="rId12"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3.jpg"/><Relationship Id="rId9"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8.jpg"/><Relationship Id="rId7" Type="http://schemas.openxmlformats.org/officeDocument/2006/relationships/image" Target="../media/image3.pn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g3d8a0b6a2ee_0_71"/>
          <p:cNvSpPr/>
          <p:nvPr/>
        </p:nvSpPr>
        <p:spPr>
          <a:xfrm>
            <a:off x="33294575" y="18068970"/>
            <a:ext cx="10226100" cy="7338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g3d8a0b6a2ee_0_71"/>
          <p:cNvSpPr txBox="1"/>
          <p:nvPr/>
        </p:nvSpPr>
        <p:spPr>
          <a:xfrm>
            <a:off x="7635290" y="396035"/>
            <a:ext cx="28620600" cy="4572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8700">
                <a:solidFill>
                  <a:srgbClr val="FFFFFF"/>
                </a:solidFill>
              </a:rPr>
              <a:t>ECEN215 Lab Kit 2</a:t>
            </a:r>
            <a:endParaRPr b="1" sz="8700">
              <a:solidFill>
                <a:srgbClr val="FFFFFF"/>
              </a:solidFill>
            </a:endParaRPr>
          </a:p>
          <a:p>
            <a:pPr indent="0" lvl="0" marL="0" rtl="0" algn="ctr">
              <a:lnSpc>
                <a:spcPct val="115000"/>
              </a:lnSpc>
              <a:spcBef>
                <a:spcPts val="0"/>
              </a:spcBef>
              <a:spcAft>
                <a:spcPts val="0"/>
              </a:spcAft>
              <a:buNone/>
            </a:pPr>
            <a:r>
              <a:rPr lang="en-US" sz="2400">
                <a:solidFill>
                  <a:srgbClr val="FFFFFF"/>
                </a:solidFill>
              </a:rPr>
              <a:t> </a:t>
            </a:r>
            <a:br>
              <a:rPr lang="en-US" sz="6000">
                <a:solidFill>
                  <a:srgbClr val="FFFFFF"/>
                </a:solidFill>
              </a:rPr>
            </a:br>
            <a:r>
              <a:rPr lang="en-US" sz="4800">
                <a:solidFill>
                  <a:srgbClr val="FFFFFF"/>
                </a:solidFill>
              </a:rPr>
              <a:t>Gavin Bernard, Maylun Huang, Evan Slyter</a:t>
            </a:r>
            <a:br>
              <a:rPr lang="en-US" sz="4800">
                <a:solidFill>
                  <a:srgbClr val="FFFFFF"/>
                </a:solidFill>
              </a:rPr>
            </a:br>
            <a:r>
              <a:rPr lang="en-US" sz="4800">
                <a:solidFill>
                  <a:srgbClr val="FFFFFF"/>
                </a:solidFill>
              </a:rPr>
              <a:t>John Lusher II, Department of Electrical &amp; Computer Engineering</a:t>
            </a:r>
            <a:endParaRPr sz="6000">
              <a:solidFill>
                <a:srgbClr val="FFFFFF"/>
              </a:solidFill>
            </a:endParaRPr>
          </a:p>
        </p:txBody>
      </p:sp>
      <p:sp>
        <p:nvSpPr>
          <p:cNvPr id="42" name="Google Shape;42;g3d8a0b6a2ee_0_71"/>
          <p:cNvSpPr txBox="1"/>
          <p:nvPr/>
        </p:nvSpPr>
        <p:spPr>
          <a:xfrm>
            <a:off x="525725" y="5628029"/>
            <a:ext cx="10226100" cy="8581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4500">
                <a:solidFill>
                  <a:srgbClr val="5D0025"/>
                </a:solidFill>
              </a:rPr>
              <a:t>Problem Definition</a:t>
            </a:r>
            <a:endParaRPr b="1" sz="4500">
              <a:solidFill>
                <a:srgbClr val="5D0025"/>
              </a:solidFill>
            </a:endParaRPr>
          </a:p>
          <a:p>
            <a:pPr indent="0" lvl="1" marL="0" rtl="0" algn="l">
              <a:spcBef>
                <a:spcPts val="1000"/>
              </a:spcBef>
              <a:spcAft>
                <a:spcPts val="0"/>
              </a:spcAft>
              <a:buNone/>
            </a:pPr>
            <a:r>
              <a:rPr lang="en-US" sz="3300"/>
              <a:t>Traditional electronics lab courses such as ECEN 215</a:t>
            </a:r>
            <a:r>
              <a:rPr lang="en-US" sz="3300"/>
              <a:t>, </a:t>
            </a:r>
            <a:r>
              <a:rPr lang="en-US" sz="3300"/>
              <a:t>rely heavily on in-person access to equipment such as signal generators, DC power supplies, oscilloscopes, and multimeters. This limits students who do not have physical access to lab sessions due to various reasons, including resource constraints or remote learning environments.</a:t>
            </a:r>
            <a:endParaRPr sz="3300"/>
          </a:p>
          <a:p>
            <a:pPr indent="0" lvl="1" marL="0" rtl="0" algn="l">
              <a:spcBef>
                <a:spcPts val="0"/>
              </a:spcBef>
              <a:spcAft>
                <a:spcPts val="0"/>
              </a:spcAft>
              <a:buNone/>
            </a:pPr>
            <a:r>
              <a:t/>
            </a:r>
            <a:endParaRPr sz="3300"/>
          </a:p>
          <a:p>
            <a:pPr indent="0" lvl="1" marL="0" rtl="0" algn="l">
              <a:spcBef>
                <a:spcPts val="0"/>
              </a:spcBef>
              <a:spcAft>
                <a:spcPts val="0"/>
              </a:spcAft>
              <a:buNone/>
            </a:pPr>
            <a:r>
              <a:rPr lang="en-US" sz="3300"/>
              <a:t>There is a need for an affordable, integrated, and remotely accessible lab system. By combining core instruments into a single device with an intuitive interface for control and data visualization, students can perform experiments without compromising accuracy or learning outcomes.</a:t>
            </a:r>
            <a:endParaRPr sz="3300"/>
          </a:p>
        </p:txBody>
      </p:sp>
      <p:sp>
        <p:nvSpPr>
          <p:cNvPr id="43" name="Google Shape;43;g3d8a0b6a2ee_0_71"/>
          <p:cNvSpPr txBox="1"/>
          <p:nvPr/>
        </p:nvSpPr>
        <p:spPr>
          <a:xfrm>
            <a:off x="11391325" y="13701382"/>
            <a:ext cx="10138500" cy="17508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4500">
                <a:solidFill>
                  <a:srgbClr val="5D0025"/>
                </a:solidFill>
              </a:rPr>
              <a:t>Engineering Analysis</a:t>
            </a:r>
            <a:endParaRPr b="1" sz="4500">
              <a:solidFill>
                <a:srgbClr val="5D0025"/>
              </a:solidFill>
            </a:endParaRPr>
          </a:p>
          <a:p>
            <a:pPr indent="0" lvl="0" marL="0" rtl="0" algn="l">
              <a:spcBef>
                <a:spcPts val="1000"/>
              </a:spcBef>
              <a:spcAft>
                <a:spcPts val="0"/>
              </a:spcAft>
              <a:buNone/>
            </a:pPr>
            <a:r>
              <a:rPr b="1" lang="en-US" sz="3500">
                <a:solidFill>
                  <a:schemeClr val="dk2"/>
                </a:solidFill>
              </a:rPr>
              <a:t>Mobile Application</a:t>
            </a:r>
            <a:endParaRPr b="1" sz="3500">
              <a:solidFill>
                <a:schemeClr val="dk2"/>
              </a:solidFill>
            </a:endParaRPr>
          </a:p>
          <a:p>
            <a:pPr indent="-387350" lvl="0" marL="457200" rtl="0" algn="l">
              <a:spcBef>
                <a:spcPts val="0"/>
              </a:spcBef>
              <a:spcAft>
                <a:spcPts val="0"/>
              </a:spcAft>
              <a:buSzPts val="2500"/>
              <a:buChar char="●"/>
            </a:pPr>
            <a:r>
              <a:rPr lang="en-US" sz="3200"/>
              <a:t>Flutter programming language for app.</a:t>
            </a:r>
            <a:endParaRPr sz="3200"/>
          </a:p>
          <a:p>
            <a:pPr indent="-387350" lvl="0" marL="457200" rtl="0" algn="l">
              <a:spcBef>
                <a:spcPts val="0"/>
              </a:spcBef>
              <a:spcAft>
                <a:spcPts val="0"/>
              </a:spcAft>
              <a:buSzPts val="2500"/>
              <a:buChar char="●"/>
            </a:pPr>
            <a:r>
              <a:rPr lang="en-US" sz="3200"/>
              <a:t>Arduino (C/C++) programming language used for ESP32.</a:t>
            </a:r>
            <a:endParaRPr sz="3200"/>
          </a:p>
          <a:p>
            <a:pPr indent="-387350" lvl="0" marL="457200" rtl="0" algn="l">
              <a:spcBef>
                <a:spcPts val="0"/>
              </a:spcBef>
              <a:spcAft>
                <a:spcPts val="0"/>
              </a:spcAft>
              <a:buSzPts val="2500"/>
              <a:buChar char="●"/>
            </a:pPr>
            <a:r>
              <a:rPr lang="en-US" sz="3200"/>
              <a:t>Bluetooth Low Energy for communication between app and Labkit.</a:t>
            </a:r>
            <a:endParaRPr sz="3200"/>
          </a:p>
          <a:p>
            <a:pPr indent="-387350" lvl="0" marL="457200" rtl="0" algn="l">
              <a:spcBef>
                <a:spcPts val="0"/>
              </a:spcBef>
              <a:spcAft>
                <a:spcPts val="0"/>
              </a:spcAft>
              <a:buSzPts val="2500"/>
              <a:buChar char="●"/>
            </a:pPr>
            <a:r>
              <a:rPr lang="en-US" sz="3200"/>
              <a:t>Visual Studio Code used for app coding.</a:t>
            </a:r>
            <a:endParaRPr sz="3200"/>
          </a:p>
          <a:p>
            <a:pPr indent="-387350" lvl="0" marL="457200" rtl="0" algn="l">
              <a:spcBef>
                <a:spcPts val="0"/>
              </a:spcBef>
              <a:spcAft>
                <a:spcPts val="0"/>
              </a:spcAft>
              <a:buSzPts val="2500"/>
              <a:buChar char="●"/>
            </a:pPr>
            <a:r>
              <a:rPr lang="en-US" sz="3200"/>
              <a:t>Arduino IDE used for ESP32 coding.</a:t>
            </a:r>
            <a:endParaRPr b="1" sz="3500">
              <a:solidFill>
                <a:srgbClr val="5D0025"/>
              </a:solidFill>
            </a:endParaRPr>
          </a:p>
          <a:p>
            <a:pPr indent="0" lvl="0" marL="0" rtl="0" algn="l">
              <a:spcBef>
                <a:spcPts val="1000"/>
              </a:spcBef>
              <a:spcAft>
                <a:spcPts val="0"/>
              </a:spcAft>
              <a:buNone/>
            </a:pPr>
            <a:r>
              <a:rPr b="1" lang="en-US" sz="3500">
                <a:solidFill>
                  <a:schemeClr val="dk2"/>
                </a:solidFill>
              </a:rPr>
              <a:t>Multimeter</a:t>
            </a:r>
            <a:endParaRPr sz="2900">
              <a:solidFill>
                <a:schemeClr val="dk1"/>
              </a:solidFill>
            </a:endParaRPr>
          </a:p>
          <a:p>
            <a:pPr indent="-387350" lvl="0" marL="457200" rtl="0" algn="l">
              <a:spcBef>
                <a:spcPts val="0"/>
              </a:spcBef>
              <a:spcAft>
                <a:spcPts val="0"/>
              </a:spcAft>
              <a:buSzPts val="2500"/>
              <a:buChar char="●"/>
            </a:pPr>
            <a:r>
              <a:rPr lang="en-US" sz="3200"/>
              <a:t>Voltmeter scales -5–5V input to ESP32 0–3.3V input through voltage division seen in </a:t>
            </a:r>
            <a:r>
              <a:rPr b="1" lang="en-US" sz="3200"/>
              <a:t>Figure 3</a:t>
            </a:r>
            <a:endParaRPr b="1" sz="3200"/>
          </a:p>
          <a:p>
            <a:pPr indent="-387350" lvl="0" marL="457200" rtl="0" algn="l">
              <a:spcBef>
                <a:spcPts val="0"/>
              </a:spcBef>
              <a:spcAft>
                <a:spcPts val="0"/>
              </a:spcAft>
              <a:buSzPts val="2500"/>
              <a:buChar char="●"/>
            </a:pPr>
            <a:r>
              <a:rPr lang="en-US" sz="3200"/>
              <a:t>Ohmmeter utilizes bilateral switch and voltage division to accommodate 10–10kΩ range</a:t>
            </a:r>
            <a:endParaRPr sz="3200"/>
          </a:p>
          <a:p>
            <a:pPr indent="-387350" lvl="0" marL="457200" rtl="0" algn="l">
              <a:spcBef>
                <a:spcPts val="0"/>
              </a:spcBef>
              <a:spcAft>
                <a:spcPts val="0"/>
              </a:spcAft>
              <a:buSzPts val="2500"/>
              <a:buChar char="●"/>
            </a:pPr>
            <a:r>
              <a:rPr lang="en-US" sz="3200"/>
              <a:t>Ammeter applies shunt resistor and gain amplifier to measure 0–1A range seen in </a:t>
            </a:r>
            <a:r>
              <a:rPr b="1" lang="en-US" sz="3200"/>
              <a:t>Figure 3</a:t>
            </a:r>
            <a:endParaRPr sz="3200"/>
          </a:p>
          <a:p>
            <a:pPr indent="-387350" lvl="0" marL="457200" rtl="0" algn="l">
              <a:spcBef>
                <a:spcPts val="0"/>
              </a:spcBef>
              <a:spcAft>
                <a:spcPts val="0"/>
              </a:spcAft>
              <a:buSzPts val="2500"/>
              <a:buChar char="●"/>
            </a:pPr>
            <a:r>
              <a:rPr lang="en-US" sz="3200"/>
              <a:t>3-channel SPDT multiplexer selects desired multimeter or oscilloscope function</a:t>
            </a:r>
            <a:endParaRPr sz="3200"/>
          </a:p>
          <a:p>
            <a:pPr indent="0" lvl="0" marL="0" rtl="0" algn="l">
              <a:spcBef>
                <a:spcPts val="1000"/>
              </a:spcBef>
              <a:spcAft>
                <a:spcPts val="0"/>
              </a:spcAft>
              <a:buNone/>
            </a:pPr>
            <a:r>
              <a:t/>
            </a:r>
            <a:endParaRPr sz="3200"/>
          </a:p>
          <a:p>
            <a:pPr indent="0" lvl="0" marL="0" rtl="0" algn="l">
              <a:spcBef>
                <a:spcPts val="1000"/>
              </a:spcBef>
              <a:spcAft>
                <a:spcPts val="0"/>
              </a:spcAft>
              <a:buNone/>
            </a:pPr>
            <a:r>
              <a:t/>
            </a:r>
            <a:endParaRPr sz="3200"/>
          </a:p>
          <a:p>
            <a:pPr indent="0" lvl="0" marL="0" rtl="0" algn="l">
              <a:spcBef>
                <a:spcPts val="1000"/>
              </a:spcBef>
              <a:spcAft>
                <a:spcPts val="0"/>
              </a:spcAft>
              <a:buNone/>
            </a:pPr>
            <a:r>
              <a:t/>
            </a:r>
            <a:endParaRPr sz="3200"/>
          </a:p>
          <a:p>
            <a:pPr indent="0" lvl="0" marL="0" rtl="0" algn="l">
              <a:spcBef>
                <a:spcPts val="1000"/>
              </a:spcBef>
              <a:spcAft>
                <a:spcPts val="0"/>
              </a:spcAft>
              <a:buNone/>
            </a:pPr>
            <a:r>
              <a:t/>
            </a:r>
            <a:endParaRPr sz="3200"/>
          </a:p>
          <a:p>
            <a:pPr indent="0" lvl="0" marL="0" rtl="0" algn="l">
              <a:spcBef>
                <a:spcPts val="1000"/>
              </a:spcBef>
              <a:spcAft>
                <a:spcPts val="0"/>
              </a:spcAft>
              <a:buNone/>
            </a:pPr>
            <a:r>
              <a:t/>
            </a:r>
            <a:endParaRPr sz="3200"/>
          </a:p>
          <a:p>
            <a:pPr indent="0" lvl="0" marL="0" rtl="0" algn="l">
              <a:spcBef>
                <a:spcPts val="1000"/>
              </a:spcBef>
              <a:spcAft>
                <a:spcPts val="0"/>
              </a:spcAft>
              <a:buNone/>
            </a:pPr>
            <a:r>
              <a:t/>
            </a:r>
            <a:endParaRPr sz="3200"/>
          </a:p>
          <a:p>
            <a:pPr indent="0" lvl="0" marL="0" rtl="0" algn="l">
              <a:spcBef>
                <a:spcPts val="1000"/>
              </a:spcBef>
              <a:spcAft>
                <a:spcPts val="0"/>
              </a:spcAft>
              <a:buNone/>
            </a:pPr>
            <a:r>
              <a:t/>
            </a:r>
            <a:endParaRPr sz="3200"/>
          </a:p>
          <a:p>
            <a:pPr indent="0" lvl="0" marL="0" rtl="0" algn="l">
              <a:spcBef>
                <a:spcPts val="1000"/>
              </a:spcBef>
              <a:spcAft>
                <a:spcPts val="0"/>
              </a:spcAft>
              <a:buNone/>
            </a:pPr>
            <a:r>
              <a:rPr b="1" lang="en-US" sz="3500">
                <a:solidFill>
                  <a:schemeClr val="dk2"/>
                </a:solidFill>
              </a:rPr>
              <a:t>Oscilloscope</a:t>
            </a:r>
            <a:endParaRPr b="1" sz="3500">
              <a:solidFill>
                <a:schemeClr val="dk2"/>
              </a:solidFill>
            </a:endParaRPr>
          </a:p>
          <a:p>
            <a:pPr indent="-387350" lvl="0" marL="457200" rtl="0" algn="l">
              <a:spcBef>
                <a:spcPts val="0"/>
              </a:spcBef>
              <a:spcAft>
                <a:spcPts val="0"/>
              </a:spcAft>
              <a:buSzPts val="2500"/>
              <a:buChar char="●"/>
            </a:pPr>
            <a:r>
              <a:rPr lang="en-US" sz="3200"/>
              <a:t>Provides single channel analysis up to 10kHz or dual-channel up to 5kHz</a:t>
            </a:r>
            <a:endParaRPr sz="3200"/>
          </a:p>
          <a:p>
            <a:pPr indent="-387350" lvl="0" marL="457200" rtl="0" algn="l">
              <a:spcBef>
                <a:spcPts val="0"/>
              </a:spcBef>
              <a:spcAft>
                <a:spcPts val="0"/>
              </a:spcAft>
              <a:buSzPts val="2500"/>
              <a:buChar char="●"/>
            </a:pPr>
            <a:r>
              <a:rPr lang="en-US" sz="3200"/>
              <a:t>Utilizes voltmeter components to reduce costs and support cross functionality</a:t>
            </a:r>
            <a:endParaRPr sz="3200"/>
          </a:p>
          <a:p>
            <a:pPr indent="-387350" lvl="0" marL="457200" rtl="0" algn="l">
              <a:spcBef>
                <a:spcPts val="0"/>
              </a:spcBef>
              <a:spcAft>
                <a:spcPts val="0"/>
              </a:spcAft>
              <a:buSzPts val="2500"/>
              <a:buChar char="●"/>
            </a:pPr>
            <a:r>
              <a:rPr lang="en-US" sz="3200"/>
              <a:t>Time division multiplexing allows for dual channel oscilloscope with single channel multiplexer use</a:t>
            </a:r>
            <a:endParaRPr sz="3500">
              <a:solidFill>
                <a:srgbClr val="5D0025"/>
              </a:solidFill>
            </a:endParaRPr>
          </a:p>
        </p:txBody>
      </p:sp>
      <p:sp>
        <p:nvSpPr>
          <p:cNvPr id="44" name="Google Shape;44;g3d8a0b6a2ee_0_71"/>
          <p:cNvSpPr txBox="1"/>
          <p:nvPr/>
        </p:nvSpPr>
        <p:spPr>
          <a:xfrm>
            <a:off x="33183175" y="5570298"/>
            <a:ext cx="10303500" cy="7734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4500">
                <a:solidFill>
                  <a:srgbClr val="5D0025"/>
                </a:solidFill>
              </a:rPr>
              <a:t>Outcomes</a:t>
            </a:r>
            <a:endParaRPr b="1" sz="4500">
              <a:solidFill>
                <a:srgbClr val="5D0025"/>
              </a:solidFill>
            </a:endParaRPr>
          </a:p>
          <a:p>
            <a:pPr indent="-406400" lvl="0" marL="457200" rtl="0" algn="l">
              <a:spcBef>
                <a:spcPts val="1000"/>
              </a:spcBef>
              <a:spcAft>
                <a:spcPts val="0"/>
              </a:spcAft>
              <a:buSzPts val="2800"/>
              <a:buChar char="●"/>
            </a:pPr>
            <a:r>
              <a:rPr lang="en-US" sz="3300"/>
              <a:t>Mobile app includes all lab manuals fully integrated in the app, including support for </a:t>
            </a:r>
            <a:r>
              <a:rPr lang="en-US" sz="3300"/>
              <a:t>power</a:t>
            </a:r>
            <a:r>
              <a:rPr lang="en-US" sz="3300"/>
              <a:t> and measurement controls, as seen in </a:t>
            </a:r>
            <a:r>
              <a:rPr b="1" lang="en-US" sz="3300"/>
              <a:t>Figure 7</a:t>
            </a:r>
            <a:endParaRPr b="1" sz="3300"/>
          </a:p>
          <a:p>
            <a:pPr indent="-406400" lvl="0" marL="457200" rtl="0" algn="l">
              <a:spcBef>
                <a:spcPts val="0"/>
              </a:spcBef>
              <a:spcAft>
                <a:spcPts val="0"/>
              </a:spcAft>
              <a:buSzPts val="2800"/>
              <a:buChar char="●"/>
            </a:pPr>
            <a:r>
              <a:rPr lang="en-US" sz="3300"/>
              <a:t>Reliable bluetooth communication for real-time power regulation and data visualization through a cohesive interface</a:t>
            </a:r>
            <a:endParaRPr sz="3300"/>
          </a:p>
          <a:p>
            <a:pPr indent="-406400" lvl="0" marL="457200" rtl="0" algn="l">
              <a:spcBef>
                <a:spcPts val="0"/>
              </a:spcBef>
              <a:spcAft>
                <a:spcPts val="0"/>
              </a:spcAft>
              <a:buSzPts val="2800"/>
              <a:buChar char="●"/>
            </a:pPr>
            <a:r>
              <a:rPr lang="en-US" sz="3300"/>
              <a:t>Reduced set-up and measurement time by consolidating 4 pieces of equipment into a single kit, seen in </a:t>
            </a:r>
            <a:r>
              <a:rPr b="1" lang="en-US" sz="3300"/>
              <a:t>Figure 6</a:t>
            </a:r>
            <a:endParaRPr b="1" sz="3300"/>
          </a:p>
          <a:p>
            <a:pPr indent="-406400" lvl="0" marL="457200" rtl="0" algn="l">
              <a:spcBef>
                <a:spcPts val="0"/>
              </a:spcBef>
              <a:spcAft>
                <a:spcPts val="0"/>
              </a:spcAft>
              <a:buSzPts val="2800"/>
              <a:buChar char="●"/>
            </a:pPr>
            <a:r>
              <a:rPr lang="en-US" sz="3300"/>
              <a:t>Low-cost solution of ~$140, compared to current device on the market (Analog Discovery 3, $379)</a:t>
            </a:r>
            <a:endParaRPr sz="3300"/>
          </a:p>
        </p:txBody>
      </p:sp>
      <p:sp>
        <p:nvSpPr>
          <p:cNvPr id="45" name="Google Shape;45;g3d8a0b6a2ee_0_71"/>
          <p:cNvSpPr txBox="1"/>
          <p:nvPr/>
        </p:nvSpPr>
        <p:spPr>
          <a:xfrm>
            <a:off x="22289575" y="23779072"/>
            <a:ext cx="10226100" cy="733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4500">
                <a:solidFill>
                  <a:srgbClr val="5D0025"/>
                </a:solidFill>
              </a:rPr>
              <a:t>Impact</a:t>
            </a:r>
            <a:endParaRPr sz="2500">
              <a:solidFill>
                <a:srgbClr val="333333"/>
              </a:solidFill>
            </a:endParaRPr>
          </a:p>
          <a:p>
            <a:pPr indent="-387350" lvl="0" marL="457200" rtl="0" algn="l">
              <a:spcBef>
                <a:spcPts val="1000"/>
              </a:spcBef>
              <a:spcAft>
                <a:spcPts val="0"/>
              </a:spcAft>
              <a:buSzPts val="2500"/>
              <a:buChar char="●"/>
            </a:pPr>
            <a:r>
              <a:rPr lang="en-US" sz="3300"/>
              <a:t>Hybrid or distance learning s</a:t>
            </a:r>
            <a:r>
              <a:rPr lang="en-US" sz="3300"/>
              <a:t>tudents taking ECEN215, Principles of Electrical Engineering, have a course-specific solution to lab accessibility.</a:t>
            </a:r>
            <a:endParaRPr sz="3300"/>
          </a:p>
          <a:p>
            <a:pPr indent="-387350" lvl="0" marL="457200" rtl="0" algn="l">
              <a:spcBef>
                <a:spcPts val="1000"/>
              </a:spcBef>
              <a:spcAft>
                <a:spcPts val="0"/>
              </a:spcAft>
              <a:buSzPts val="2500"/>
              <a:buChar char="●"/>
            </a:pPr>
            <a:r>
              <a:rPr lang="en-US" sz="3300"/>
              <a:t>Increases access to hands-on electronics experience</a:t>
            </a:r>
            <a:r>
              <a:rPr lang="en-US" sz="3300"/>
              <a:t>, further supporting education and course engagement</a:t>
            </a:r>
            <a:endParaRPr sz="3300"/>
          </a:p>
          <a:p>
            <a:pPr indent="-387350" lvl="0" marL="457200" rtl="0" algn="l">
              <a:spcBef>
                <a:spcPts val="1000"/>
              </a:spcBef>
              <a:spcAft>
                <a:spcPts val="0"/>
              </a:spcAft>
              <a:buSzPts val="2500"/>
              <a:buChar char="●"/>
            </a:pPr>
            <a:r>
              <a:rPr lang="en-US" sz="3300"/>
              <a:t>Reduces dependence on campus labs, promoting self-paced exploration and removing need for supervising lab employees</a:t>
            </a:r>
            <a:endParaRPr sz="3300"/>
          </a:p>
          <a:p>
            <a:pPr indent="-387350" lvl="0" marL="457200" rtl="0" algn="l">
              <a:spcBef>
                <a:spcPts val="1000"/>
              </a:spcBef>
              <a:spcAft>
                <a:spcPts val="1000"/>
              </a:spcAft>
              <a:buSzPts val="2500"/>
              <a:buChar char="●"/>
            </a:pPr>
            <a:r>
              <a:rPr lang="en-US" sz="3300"/>
              <a:t>O</a:t>
            </a:r>
            <a:r>
              <a:rPr lang="en-US" sz="3300"/>
              <a:t>pens the door to more cost-effective and accessible devices to be designed and created in other classes taken remotely</a:t>
            </a:r>
            <a:endParaRPr b="1" sz="4800" u="sng">
              <a:solidFill>
                <a:srgbClr val="5D0025"/>
              </a:solidFill>
            </a:endParaRPr>
          </a:p>
        </p:txBody>
      </p:sp>
      <p:sp>
        <p:nvSpPr>
          <p:cNvPr id="46" name="Google Shape;46;g3d8a0b6a2ee_0_71"/>
          <p:cNvSpPr txBox="1"/>
          <p:nvPr/>
        </p:nvSpPr>
        <p:spPr>
          <a:xfrm>
            <a:off x="413150" y="14119582"/>
            <a:ext cx="10226100" cy="1709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500">
                <a:solidFill>
                  <a:srgbClr val="5D0025"/>
                </a:solidFill>
              </a:rPr>
              <a:t>Methodology</a:t>
            </a:r>
            <a:endParaRPr b="1" sz="4500">
              <a:solidFill>
                <a:srgbClr val="5D0025"/>
              </a:solidFill>
            </a:endParaRPr>
          </a:p>
          <a:p>
            <a:pPr indent="0" lvl="0" marL="0" rtl="0" algn="l">
              <a:spcBef>
                <a:spcPts val="1000"/>
              </a:spcBef>
              <a:spcAft>
                <a:spcPts val="0"/>
              </a:spcAft>
              <a:buNone/>
            </a:pPr>
            <a:r>
              <a:rPr lang="en-US" sz="3300"/>
              <a:t>The project began with research into laboratory equipment and existing kit systems to identify functional and design requirements. This was followed by circuit simulations to validate hardware subsystems before implementation.</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rPr lang="en-US" sz="3300"/>
              <a:t>Next, each subsystem was individually built and tested using breadboards to ensure accurate operation and simplify debugging. </a:t>
            </a:r>
            <a:r>
              <a:rPr lang="en-US" sz="3300"/>
              <a:t>The design then transitioned to an integrated system, using Altium to develop a printed circuit board that consolidated all components to a single board, seen in </a:t>
            </a:r>
            <a:r>
              <a:rPr b="1" lang="en-US" sz="3300"/>
              <a:t>Figure 1</a:t>
            </a:r>
            <a:r>
              <a:rPr lang="en-US" sz="3300"/>
              <a:t>.</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2200"/>
          </a:p>
          <a:p>
            <a:pPr indent="0" lvl="0" marL="0" rtl="0" algn="l">
              <a:spcBef>
                <a:spcPts val="0"/>
              </a:spcBef>
              <a:spcAft>
                <a:spcPts val="0"/>
              </a:spcAft>
              <a:buNone/>
            </a:pPr>
            <a:r>
              <a:rPr lang="en-US" sz="3300"/>
              <a:t>Finally, the PCB was fabricated, assembled, and tested. </a:t>
            </a:r>
            <a:r>
              <a:rPr lang="en-US" sz="3300"/>
              <a:t>Iterative validation was conducted to ensure measurement accuracy, stable wireless connectivity, and seamless hardware–software integration, confirming cohesive system performance.</a:t>
            </a:r>
            <a:endParaRPr sz="3300"/>
          </a:p>
        </p:txBody>
      </p:sp>
      <p:sp>
        <p:nvSpPr>
          <p:cNvPr id="47" name="Google Shape;47;g3d8a0b6a2ee_0_71"/>
          <p:cNvSpPr txBox="1"/>
          <p:nvPr/>
        </p:nvSpPr>
        <p:spPr>
          <a:xfrm>
            <a:off x="33275425" y="25973584"/>
            <a:ext cx="9954000" cy="516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500">
                <a:solidFill>
                  <a:srgbClr val="5D0025"/>
                </a:solidFill>
              </a:rPr>
              <a:t>References</a:t>
            </a:r>
            <a:endParaRPr sz="2700"/>
          </a:p>
          <a:p>
            <a:pPr indent="-419100" lvl="0" marL="457200" rtl="0" algn="l">
              <a:spcBef>
                <a:spcPts val="1000"/>
              </a:spcBef>
              <a:spcAft>
                <a:spcPts val="0"/>
              </a:spcAft>
              <a:buSzPts val="3000"/>
              <a:buAutoNum type="arabicPeriod"/>
            </a:pPr>
            <a:r>
              <a:rPr lang="en-US" sz="3000"/>
              <a:t>IEEE 1241-2010 Terminology and Test Methods for Analog-to-Digital Converters</a:t>
            </a:r>
            <a:endParaRPr sz="3000"/>
          </a:p>
          <a:p>
            <a:pPr indent="-419100" lvl="0" marL="457200" rtl="0" algn="l">
              <a:spcBef>
                <a:spcPts val="0"/>
              </a:spcBef>
              <a:spcAft>
                <a:spcPts val="0"/>
              </a:spcAft>
              <a:buSzPts val="3000"/>
              <a:buAutoNum type="arabicPeriod"/>
            </a:pPr>
            <a:r>
              <a:rPr lang="en-US" sz="3000"/>
              <a:t>IEEE 1057-2017 Digitizing Waveform Recorders</a:t>
            </a:r>
            <a:endParaRPr sz="3000"/>
          </a:p>
          <a:p>
            <a:pPr indent="-419100" lvl="0" marL="457200" rtl="0" algn="l">
              <a:spcBef>
                <a:spcPts val="0"/>
              </a:spcBef>
              <a:spcAft>
                <a:spcPts val="0"/>
              </a:spcAft>
              <a:buSzPts val="3000"/>
              <a:buAutoNum type="arabicPeriod"/>
            </a:pPr>
            <a:r>
              <a:rPr lang="en-US" sz="3000"/>
              <a:t>IEEE 946-2020 Recommended Practice for the Design of DC Power Systems for Stationary Applications</a:t>
            </a:r>
            <a:endParaRPr sz="3000"/>
          </a:p>
          <a:p>
            <a:pPr indent="-419100" lvl="0" marL="457200" rtl="0" algn="l">
              <a:spcBef>
                <a:spcPts val="0"/>
              </a:spcBef>
              <a:spcAft>
                <a:spcPts val="0"/>
              </a:spcAft>
              <a:buSzPts val="3000"/>
              <a:buAutoNum type="arabicPeriod"/>
            </a:pPr>
            <a:r>
              <a:rPr lang="en-US" sz="3000"/>
              <a:t>IEEE 1100-2005 Recommended Practice for Powering and Grounding Electronic Equipment</a:t>
            </a:r>
            <a:endParaRPr sz="3000"/>
          </a:p>
          <a:p>
            <a:pPr indent="-419100" lvl="0" marL="457200" rtl="0" algn="l">
              <a:spcBef>
                <a:spcPts val="0"/>
              </a:spcBef>
              <a:spcAft>
                <a:spcPts val="0"/>
              </a:spcAft>
              <a:buSzPts val="3000"/>
              <a:buAutoNum type="arabicPeriod"/>
            </a:pPr>
            <a:r>
              <a:rPr lang="en-US" sz="3000"/>
              <a:t>W. Trinh, J. Tyler, S. Villareal, M. Rahmian, and N. Gober, “ECEN 215 Lab Manual”</a:t>
            </a:r>
            <a:endParaRPr b="1" sz="3000"/>
          </a:p>
        </p:txBody>
      </p:sp>
      <p:pic>
        <p:nvPicPr>
          <p:cNvPr id="48" name="Google Shape;48;g3d8a0b6a2ee_0_71"/>
          <p:cNvPicPr preferRelativeResize="0"/>
          <p:nvPr/>
        </p:nvPicPr>
        <p:blipFill>
          <a:blip r:embed="rId3">
            <a:alphaModFix/>
          </a:blip>
          <a:stretch>
            <a:fillRect/>
          </a:stretch>
        </p:blipFill>
        <p:spPr>
          <a:xfrm>
            <a:off x="33410625" y="18205729"/>
            <a:ext cx="3338025" cy="7064451"/>
          </a:xfrm>
          <a:prstGeom prst="rect">
            <a:avLst/>
          </a:prstGeom>
          <a:noFill/>
          <a:ln>
            <a:noFill/>
          </a:ln>
        </p:spPr>
      </p:pic>
      <p:pic>
        <p:nvPicPr>
          <p:cNvPr id="49" name="Google Shape;49;g3d8a0b6a2ee_0_71" title="IMG_7092.heic"/>
          <p:cNvPicPr preferRelativeResize="0"/>
          <p:nvPr/>
        </p:nvPicPr>
        <p:blipFill>
          <a:blip r:embed="rId4">
            <a:alphaModFix/>
          </a:blip>
          <a:stretch>
            <a:fillRect/>
          </a:stretch>
        </p:blipFill>
        <p:spPr>
          <a:xfrm>
            <a:off x="35180600" y="12088545"/>
            <a:ext cx="6604001" cy="5162601"/>
          </a:xfrm>
          <a:prstGeom prst="rect">
            <a:avLst/>
          </a:prstGeom>
          <a:noFill/>
          <a:ln>
            <a:noFill/>
          </a:ln>
        </p:spPr>
      </p:pic>
      <p:sp>
        <p:nvSpPr>
          <p:cNvPr id="50" name="Google Shape;50;g3d8a0b6a2ee_0_71"/>
          <p:cNvSpPr txBox="1"/>
          <p:nvPr/>
        </p:nvSpPr>
        <p:spPr>
          <a:xfrm>
            <a:off x="11405430" y="5628025"/>
            <a:ext cx="9829800" cy="114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4500">
                <a:solidFill>
                  <a:srgbClr val="5D0025"/>
                </a:solidFill>
              </a:rPr>
              <a:t>System Overview</a:t>
            </a:r>
            <a:endParaRPr b="1" sz="4500">
              <a:solidFill>
                <a:srgbClr val="5D0025"/>
              </a:solidFill>
            </a:endParaRPr>
          </a:p>
          <a:p>
            <a:pPr indent="0" lvl="1" marL="0" rtl="0" algn="l">
              <a:spcBef>
                <a:spcPts val="1000"/>
              </a:spcBef>
              <a:spcAft>
                <a:spcPts val="0"/>
              </a:spcAft>
              <a:buNone/>
            </a:pPr>
            <a:r>
              <a:t/>
            </a:r>
            <a:endParaRPr sz="3200">
              <a:solidFill>
                <a:srgbClr val="333333"/>
              </a:solidFill>
            </a:endParaRPr>
          </a:p>
        </p:txBody>
      </p:sp>
      <p:grpSp>
        <p:nvGrpSpPr>
          <p:cNvPr id="51" name="Google Shape;51;g3d8a0b6a2ee_0_71"/>
          <p:cNvGrpSpPr/>
          <p:nvPr/>
        </p:nvGrpSpPr>
        <p:grpSpPr>
          <a:xfrm>
            <a:off x="611300" y="21301099"/>
            <a:ext cx="9829798" cy="6983647"/>
            <a:chOff x="611300" y="21227824"/>
            <a:chExt cx="9829798" cy="6983647"/>
          </a:xfrm>
        </p:grpSpPr>
        <p:pic>
          <p:nvPicPr>
            <p:cNvPr id="52" name="Google Shape;52;g3d8a0b6a2ee_0_71"/>
            <p:cNvPicPr preferRelativeResize="0"/>
            <p:nvPr/>
          </p:nvPicPr>
          <p:blipFill rotWithShape="1">
            <a:blip r:embed="rId5">
              <a:alphaModFix/>
            </a:blip>
            <a:srcRect b="2888" l="1433" r="1082" t="2719"/>
            <a:stretch/>
          </p:blipFill>
          <p:spPr>
            <a:xfrm>
              <a:off x="611300" y="21227824"/>
              <a:ext cx="9829798" cy="6319202"/>
            </a:xfrm>
            <a:prstGeom prst="rect">
              <a:avLst/>
            </a:prstGeom>
            <a:noFill/>
            <a:ln>
              <a:noFill/>
            </a:ln>
          </p:spPr>
        </p:pic>
        <p:sp>
          <p:nvSpPr>
            <p:cNvPr id="53" name="Google Shape;53;g3d8a0b6a2ee_0_71"/>
            <p:cNvSpPr txBox="1"/>
            <p:nvPr/>
          </p:nvSpPr>
          <p:spPr>
            <a:xfrm>
              <a:off x="2691825" y="27595871"/>
              <a:ext cx="557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2800"/>
                <a:t>Figure 1.</a:t>
              </a:r>
              <a:r>
                <a:rPr i="1" lang="en-US" sz="2800"/>
                <a:t> Integrated PCB Layout</a:t>
              </a:r>
              <a:endParaRPr i="1" sz="1000"/>
            </a:p>
          </p:txBody>
        </p:sp>
      </p:grpSp>
      <p:grpSp>
        <p:nvGrpSpPr>
          <p:cNvPr id="54" name="Google Shape;54;g3d8a0b6a2ee_0_71"/>
          <p:cNvGrpSpPr/>
          <p:nvPr/>
        </p:nvGrpSpPr>
        <p:grpSpPr>
          <a:xfrm>
            <a:off x="11130376" y="6536083"/>
            <a:ext cx="10648937" cy="6698775"/>
            <a:chOff x="22048012" y="14838350"/>
            <a:chExt cx="10648937" cy="6698775"/>
          </a:xfrm>
        </p:grpSpPr>
        <p:pic>
          <p:nvPicPr>
            <p:cNvPr id="55" name="Google Shape;55;g3d8a0b6a2ee_0_71" title="Blank diagram.jpeg"/>
            <p:cNvPicPr preferRelativeResize="0"/>
            <p:nvPr/>
          </p:nvPicPr>
          <p:blipFill rotWithShape="1">
            <a:blip r:embed="rId6">
              <a:alphaModFix/>
            </a:blip>
            <a:srcRect b="0" l="1826" r="0" t="0"/>
            <a:stretch/>
          </p:blipFill>
          <p:spPr>
            <a:xfrm>
              <a:off x="22048012" y="14838350"/>
              <a:ext cx="10648937" cy="6083176"/>
            </a:xfrm>
            <a:prstGeom prst="rect">
              <a:avLst/>
            </a:prstGeom>
            <a:noFill/>
            <a:ln>
              <a:noFill/>
            </a:ln>
          </p:spPr>
        </p:pic>
        <p:sp>
          <p:nvSpPr>
            <p:cNvPr id="56" name="Google Shape;56;g3d8a0b6a2ee_0_71"/>
            <p:cNvSpPr txBox="1"/>
            <p:nvPr/>
          </p:nvSpPr>
          <p:spPr>
            <a:xfrm>
              <a:off x="25062800" y="20921525"/>
              <a:ext cx="468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2800"/>
                <a:t>Figure 2.</a:t>
              </a:r>
              <a:r>
                <a:rPr i="1" lang="en-US" sz="2800"/>
                <a:t> System Overview</a:t>
              </a:r>
              <a:endParaRPr i="1" sz="1000"/>
            </a:p>
          </p:txBody>
        </p:sp>
      </p:grpSp>
      <p:pic>
        <p:nvPicPr>
          <p:cNvPr id="57" name="Google Shape;57;g3d8a0b6a2ee_0_71"/>
          <p:cNvPicPr preferRelativeResize="0"/>
          <p:nvPr/>
        </p:nvPicPr>
        <p:blipFill rotWithShape="1">
          <a:blip r:embed="rId7">
            <a:alphaModFix/>
          </a:blip>
          <a:srcRect b="678" l="0" r="0" t="1100"/>
          <a:stretch/>
        </p:blipFill>
        <p:spPr>
          <a:xfrm>
            <a:off x="36829763" y="18230408"/>
            <a:ext cx="3227551" cy="7015124"/>
          </a:xfrm>
          <a:prstGeom prst="rect">
            <a:avLst/>
          </a:prstGeom>
          <a:noFill/>
          <a:ln>
            <a:noFill/>
          </a:ln>
        </p:spPr>
      </p:pic>
      <p:sp>
        <p:nvSpPr>
          <p:cNvPr id="58" name="Google Shape;58;g3d8a0b6a2ee_0_71"/>
          <p:cNvSpPr txBox="1"/>
          <p:nvPr/>
        </p:nvSpPr>
        <p:spPr>
          <a:xfrm>
            <a:off x="36139750" y="17233608"/>
            <a:ext cx="4685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sz="2800"/>
              <a:t>Figure 6.</a:t>
            </a:r>
            <a:r>
              <a:rPr i="1" lang="en-US" sz="2800"/>
              <a:t> Assembled Kit</a:t>
            </a:r>
            <a:endParaRPr i="1" sz="1000"/>
          </a:p>
        </p:txBody>
      </p:sp>
      <p:sp>
        <p:nvSpPr>
          <p:cNvPr id="59" name="Google Shape;59;g3d8a0b6a2ee_0_71"/>
          <p:cNvSpPr txBox="1"/>
          <p:nvPr/>
        </p:nvSpPr>
        <p:spPr>
          <a:xfrm>
            <a:off x="35727090" y="25406858"/>
            <a:ext cx="5511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sz="2800"/>
              <a:t>Figure 7.</a:t>
            </a:r>
            <a:r>
              <a:rPr i="1" lang="en-US" sz="2800"/>
              <a:t> Mobile App Integration</a:t>
            </a:r>
            <a:endParaRPr i="1" sz="1000"/>
          </a:p>
        </p:txBody>
      </p:sp>
      <p:sp>
        <p:nvSpPr>
          <p:cNvPr id="60" name="Google Shape;60;g3d8a0b6a2ee_0_71"/>
          <p:cNvSpPr txBox="1"/>
          <p:nvPr/>
        </p:nvSpPr>
        <p:spPr>
          <a:xfrm>
            <a:off x="22290275" y="5628025"/>
            <a:ext cx="10226100" cy="54849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US" sz="4500">
                <a:solidFill>
                  <a:schemeClr val="dk2"/>
                </a:solidFill>
              </a:rPr>
              <a:t>Engineering Analysis (cont.)</a:t>
            </a:r>
            <a:endParaRPr b="1" sz="4500">
              <a:solidFill>
                <a:schemeClr val="dk2"/>
              </a:solidFill>
            </a:endParaRPr>
          </a:p>
          <a:p>
            <a:pPr indent="0" lvl="0" marL="0" rtl="0" algn="l">
              <a:spcBef>
                <a:spcPts val="1000"/>
              </a:spcBef>
              <a:spcAft>
                <a:spcPts val="0"/>
              </a:spcAft>
              <a:buNone/>
            </a:pPr>
            <a:r>
              <a:rPr b="1" lang="en-US" sz="3500">
                <a:solidFill>
                  <a:schemeClr val="dk2"/>
                </a:solidFill>
              </a:rPr>
              <a:t>Power Supply</a:t>
            </a:r>
            <a:endParaRPr b="1" sz="3500">
              <a:solidFill>
                <a:schemeClr val="dk2"/>
              </a:solidFill>
            </a:endParaRPr>
          </a:p>
          <a:p>
            <a:pPr indent="-387350" lvl="0" marL="457200" rtl="0" algn="l">
              <a:spcBef>
                <a:spcPts val="0"/>
              </a:spcBef>
              <a:spcAft>
                <a:spcPts val="0"/>
              </a:spcAft>
              <a:buSzPts val="2500"/>
              <a:buChar char="●"/>
            </a:pPr>
            <a:r>
              <a:rPr lang="en-US" sz="3200"/>
              <a:t>DC input of 12V gets dropped by a 5V buck converter and 3.3V buck converter (</a:t>
            </a:r>
            <a:r>
              <a:rPr b="1" lang="en-US" sz="3200"/>
              <a:t>Figure 4</a:t>
            </a:r>
            <a:r>
              <a:rPr lang="en-US" sz="3200"/>
              <a:t>)</a:t>
            </a:r>
            <a:endParaRPr sz="3200"/>
          </a:p>
          <a:p>
            <a:pPr indent="-387350" lvl="0" marL="457200" rtl="0" algn="l">
              <a:spcBef>
                <a:spcPts val="0"/>
              </a:spcBef>
              <a:spcAft>
                <a:spcPts val="0"/>
              </a:spcAft>
              <a:buSzPts val="2500"/>
              <a:buChar char="●"/>
            </a:pPr>
            <a:r>
              <a:rPr lang="en-US" sz="3200"/>
              <a:t>Each rail allows for output current of 1A, which power the entire kit and the circuits for the students</a:t>
            </a:r>
            <a:endParaRPr sz="3200"/>
          </a:p>
          <a:p>
            <a:pPr indent="-387350" lvl="0" marL="457200" rtl="0" algn="l">
              <a:spcBef>
                <a:spcPts val="0"/>
              </a:spcBef>
              <a:spcAft>
                <a:spcPts val="0"/>
              </a:spcAft>
              <a:buSzPts val="2500"/>
              <a:buChar char="●"/>
            </a:pPr>
            <a:r>
              <a:rPr lang="en-US" sz="3200"/>
              <a:t>-5V charge pump inverter takes the 5V input and inverts to -5V (</a:t>
            </a:r>
            <a:r>
              <a:rPr b="1" lang="en-US" sz="3200"/>
              <a:t>Figure 4</a:t>
            </a:r>
            <a:r>
              <a:rPr lang="en-US" sz="3200"/>
              <a:t>)</a:t>
            </a:r>
            <a:endParaRPr sz="3200"/>
          </a:p>
          <a:p>
            <a:pPr indent="-387350" lvl="0" marL="457200" rtl="0" algn="l">
              <a:spcBef>
                <a:spcPts val="0"/>
              </a:spcBef>
              <a:spcAft>
                <a:spcPts val="0"/>
              </a:spcAft>
              <a:buSzPts val="2500"/>
              <a:buChar char="●"/>
            </a:pPr>
            <a:r>
              <a:rPr lang="en-US" sz="3200"/>
              <a:t>DAC connects to the app through SPI connection and allows for a variable voltage from 0 to 5V</a:t>
            </a:r>
            <a:endParaRPr b="1" sz="4500">
              <a:solidFill>
                <a:schemeClr val="dk2"/>
              </a:solidFill>
            </a:endParaRPr>
          </a:p>
        </p:txBody>
      </p:sp>
      <p:sp>
        <p:nvSpPr>
          <p:cNvPr id="61" name="Google Shape;61;g3d8a0b6a2ee_0_71"/>
          <p:cNvSpPr txBox="1"/>
          <p:nvPr/>
        </p:nvSpPr>
        <p:spPr>
          <a:xfrm>
            <a:off x="22299138" y="15420688"/>
            <a:ext cx="10226100" cy="36789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US" sz="3500">
                <a:solidFill>
                  <a:schemeClr val="dk2"/>
                </a:solidFill>
              </a:rPr>
              <a:t>Signal Generator</a:t>
            </a:r>
            <a:endParaRPr b="1" sz="3500">
              <a:solidFill>
                <a:schemeClr val="dk2"/>
              </a:solidFill>
            </a:endParaRPr>
          </a:p>
          <a:p>
            <a:pPr indent="-387350" lvl="0" marL="457200" rtl="0" algn="l">
              <a:spcBef>
                <a:spcPts val="0"/>
              </a:spcBef>
              <a:spcAft>
                <a:spcPts val="0"/>
              </a:spcAft>
              <a:buSzPts val="2500"/>
              <a:buChar char="●"/>
            </a:pPr>
            <a:r>
              <a:rPr lang="en-US" sz="3200"/>
              <a:t>Uses 3.3V source that applies to an oscillator and AD9833 to generator signal</a:t>
            </a:r>
            <a:endParaRPr sz="3200"/>
          </a:p>
          <a:p>
            <a:pPr indent="-387350" lvl="0" marL="457200" rtl="0" algn="l">
              <a:spcBef>
                <a:spcPts val="0"/>
              </a:spcBef>
              <a:spcAft>
                <a:spcPts val="0"/>
              </a:spcAft>
              <a:buSzPts val="2500"/>
              <a:buChar char="●"/>
            </a:pPr>
            <a:r>
              <a:rPr lang="en-US" sz="3200"/>
              <a:t>SPI connection to AD9833 allows for the app to control the output signal</a:t>
            </a:r>
            <a:endParaRPr sz="3200"/>
          </a:p>
          <a:p>
            <a:pPr indent="-387350" lvl="0" marL="457200" rtl="0" algn="l">
              <a:spcBef>
                <a:spcPts val="0"/>
              </a:spcBef>
              <a:spcAft>
                <a:spcPts val="1000"/>
              </a:spcAft>
              <a:buSzPts val="2500"/>
              <a:buChar char="●"/>
            </a:pPr>
            <a:r>
              <a:rPr lang="en-US" sz="3200"/>
              <a:t>Op amp circuit with digital potentiometer allows output signal amplitude change</a:t>
            </a:r>
            <a:endParaRPr/>
          </a:p>
        </p:txBody>
      </p:sp>
      <p:grpSp>
        <p:nvGrpSpPr>
          <p:cNvPr id="62" name="Google Shape;62;g3d8a0b6a2ee_0_71"/>
          <p:cNvGrpSpPr/>
          <p:nvPr/>
        </p:nvGrpSpPr>
        <p:grpSpPr>
          <a:xfrm>
            <a:off x="22281902" y="11398037"/>
            <a:ext cx="10303549" cy="4012175"/>
            <a:chOff x="22291477" y="11770237"/>
            <a:chExt cx="10303549" cy="4012175"/>
          </a:xfrm>
        </p:grpSpPr>
        <p:grpSp>
          <p:nvGrpSpPr>
            <p:cNvPr id="63" name="Google Shape;63;g3d8a0b6a2ee_0_71"/>
            <p:cNvGrpSpPr/>
            <p:nvPr/>
          </p:nvGrpSpPr>
          <p:grpSpPr>
            <a:xfrm>
              <a:off x="22291477" y="11770237"/>
              <a:ext cx="10303549" cy="3396600"/>
              <a:chOff x="22168162" y="11717250"/>
              <a:chExt cx="10303549" cy="3396600"/>
            </a:xfrm>
          </p:grpSpPr>
          <p:pic>
            <p:nvPicPr>
              <p:cNvPr id="64" name="Google Shape;64;g3d8a0b6a2ee_0_71" title="Chart"/>
              <p:cNvPicPr preferRelativeResize="0"/>
              <p:nvPr/>
            </p:nvPicPr>
            <p:blipFill rotWithShape="1">
              <a:blip r:embed="rId8">
                <a:alphaModFix/>
              </a:blip>
              <a:srcRect b="4157" l="4307" r="8865" t="3455"/>
              <a:stretch/>
            </p:blipFill>
            <p:spPr>
              <a:xfrm>
                <a:off x="22168162" y="11717250"/>
                <a:ext cx="5151774" cy="3389424"/>
              </a:xfrm>
              <a:prstGeom prst="rect">
                <a:avLst/>
              </a:prstGeom>
              <a:noFill/>
              <a:ln cap="flat" cmpd="sng" w="28575">
                <a:solidFill>
                  <a:srgbClr val="5D0025"/>
                </a:solidFill>
                <a:prstDash val="solid"/>
                <a:round/>
                <a:headEnd len="sm" w="sm" type="none"/>
                <a:tailEnd len="sm" w="sm" type="none"/>
              </a:ln>
            </p:spPr>
          </p:pic>
          <p:pic>
            <p:nvPicPr>
              <p:cNvPr id="65" name="Google Shape;65;g3d8a0b6a2ee_0_71" title="Chart"/>
              <p:cNvPicPr preferRelativeResize="0"/>
              <p:nvPr/>
            </p:nvPicPr>
            <p:blipFill rotWithShape="1">
              <a:blip r:embed="rId9">
                <a:alphaModFix/>
              </a:blip>
              <a:srcRect b="4628" l="4635" r="8725" t="2993"/>
              <a:stretch/>
            </p:blipFill>
            <p:spPr>
              <a:xfrm>
                <a:off x="27319938" y="11717250"/>
                <a:ext cx="5151774" cy="3396600"/>
              </a:xfrm>
              <a:prstGeom prst="rect">
                <a:avLst/>
              </a:prstGeom>
              <a:noFill/>
              <a:ln cap="flat" cmpd="sng" w="28575">
                <a:solidFill>
                  <a:srgbClr val="5D0025"/>
                </a:solidFill>
                <a:prstDash val="solid"/>
                <a:round/>
                <a:headEnd len="sm" w="sm" type="none"/>
                <a:tailEnd len="sm" w="sm" type="none"/>
              </a:ln>
            </p:spPr>
          </p:pic>
        </p:grpSp>
        <p:sp>
          <p:nvSpPr>
            <p:cNvPr id="66" name="Google Shape;66;g3d8a0b6a2ee_0_71"/>
            <p:cNvSpPr txBox="1"/>
            <p:nvPr/>
          </p:nvSpPr>
          <p:spPr>
            <a:xfrm>
              <a:off x="24977100" y="15166813"/>
              <a:ext cx="4685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sz="2800"/>
                <a:t>Figure 4.</a:t>
              </a:r>
              <a:r>
                <a:rPr i="1" lang="en-US" sz="2800"/>
                <a:t> Power Output</a:t>
              </a:r>
              <a:endParaRPr i="1" sz="1000"/>
            </a:p>
          </p:txBody>
        </p:sp>
      </p:grpSp>
      <p:pic>
        <p:nvPicPr>
          <p:cNvPr id="67" name="Google Shape;67;g3d8a0b6a2ee_0_71"/>
          <p:cNvPicPr preferRelativeResize="0"/>
          <p:nvPr/>
        </p:nvPicPr>
        <p:blipFill>
          <a:blip r:embed="rId10">
            <a:alphaModFix/>
          </a:blip>
          <a:stretch>
            <a:fillRect/>
          </a:stretch>
        </p:blipFill>
        <p:spPr>
          <a:xfrm>
            <a:off x="40149400" y="18226170"/>
            <a:ext cx="3227550" cy="7053897"/>
          </a:xfrm>
          <a:prstGeom prst="rect">
            <a:avLst/>
          </a:prstGeom>
          <a:noFill/>
          <a:ln>
            <a:noFill/>
          </a:ln>
        </p:spPr>
      </p:pic>
      <p:pic>
        <p:nvPicPr>
          <p:cNvPr id="68" name="Google Shape;68;g3d8a0b6a2ee_0_71" title="Sine wave 2.0"/>
          <p:cNvPicPr preferRelativeResize="0"/>
          <p:nvPr/>
        </p:nvPicPr>
        <p:blipFill>
          <a:blip r:embed="rId11">
            <a:alphaModFix/>
          </a:blip>
          <a:stretch>
            <a:fillRect/>
          </a:stretch>
        </p:blipFill>
        <p:spPr>
          <a:xfrm>
            <a:off x="24161488" y="19172863"/>
            <a:ext cx="5848376" cy="4012199"/>
          </a:xfrm>
          <a:prstGeom prst="rect">
            <a:avLst/>
          </a:prstGeom>
          <a:noFill/>
          <a:ln>
            <a:noFill/>
          </a:ln>
        </p:spPr>
      </p:pic>
      <p:grpSp>
        <p:nvGrpSpPr>
          <p:cNvPr id="69" name="Google Shape;69;g3d8a0b6a2ee_0_71"/>
          <p:cNvGrpSpPr/>
          <p:nvPr/>
        </p:nvGrpSpPr>
        <p:grpSpPr>
          <a:xfrm>
            <a:off x="11628050" y="23317844"/>
            <a:ext cx="9672701" cy="3993250"/>
            <a:chOff x="11515525" y="23222113"/>
            <a:chExt cx="9672701" cy="3993250"/>
          </a:xfrm>
        </p:grpSpPr>
        <p:pic>
          <p:nvPicPr>
            <p:cNvPr id="70" name="Google Shape;70;g3d8a0b6a2ee_0_71" title="Chart"/>
            <p:cNvPicPr preferRelativeResize="0"/>
            <p:nvPr/>
          </p:nvPicPr>
          <p:blipFill rotWithShape="1">
            <a:blip r:embed="rId12">
              <a:alphaModFix/>
            </a:blip>
            <a:srcRect b="0" l="0" r="2420" t="0"/>
            <a:stretch/>
          </p:blipFill>
          <p:spPr>
            <a:xfrm>
              <a:off x="11515525" y="23222113"/>
              <a:ext cx="4685700" cy="3377650"/>
            </a:xfrm>
            <a:prstGeom prst="rect">
              <a:avLst/>
            </a:prstGeom>
            <a:noFill/>
            <a:ln cap="flat" cmpd="sng" w="28575">
              <a:solidFill>
                <a:schemeClr val="dk2"/>
              </a:solidFill>
              <a:prstDash val="solid"/>
              <a:round/>
              <a:headEnd len="sm" w="sm" type="none"/>
              <a:tailEnd len="sm" w="sm" type="none"/>
            </a:ln>
          </p:spPr>
        </p:pic>
        <p:pic>
          <p:nvPicPr>
            <p:cNvPr id="71" name="Google Shape;71;g3d8a0b6a2ee_0_71" title="Chart"/>
            <p:cNvPicPr preferRelativeResize="0"/>
            <p:nvPr/>
          </p:nvPicPr>
          <p:blipFill rotWithShape="1">
            <a:blip r:embed="rId13">
              <a:alphaModFix/>
            </a:blip>
            <a:srcRect b="0" l="2705" r="0" t="0"/>
            <a:stretch/>
          </p:blipFill>
          <p:spPr>
            <a:xfrm>
              <a:off x="16201225" y="23222113"/>
              <a:ext cx="4987001" cy="3377651"/>
            </a:xfrm>
            <a:prstGeom prst="rect">
              <a:avLst/>
            </a:prstGeom>
            <a:noFill/>
            <a:ln cap="flat" cmpd="sng" w="28575">
              <a:solidFill>
                <a:schemeClr val="dk2"/>
              </a:solidFill>
              <a:prstDash val="solid"/>
              <a:round/>
              <a:headEnd len="sm" w="sm" type="none"/>
              <a:tailEnd len="sm" w="sm" type="none"/>
            </a:ln>
          </p:spPr>
        </p:pic>
        <p:sp>
          <p:nvSpPr>
            <p:cNvPr id="72" name="Google Shape;72;g3d8a0b6a2ee_0_71"/>
            <p:cNvSpPr txBox="1"/>
            <p:nvPr/>
          </p:nvSpPr>
          <p:spPr>
            <a:xfrm>
              <a:off x="13907613" y="26599763"/>
              <a:ext cx="4685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sz="2800"/>
                <a:t>Figure 3.</a:t>
              </a:r>
              <a:r>
                <a:rPr i="1" lang="en-US" sz="2800"/>
                <a:t> Multimeter Data</a:t>
              </a:r>
              <a:endParaRPr i="1" sz="1000"/>
            </a:p>
          </p:txBody>
        </p:sp>
      </p:grpSp>
      <p:sp>
        <p:nvSpPr>
          <p:cNvPr id="73" name="Google Shape;73;g3d8a0b6a2ee_0_71"/>
          <p:cNvSpPr txBox="1"/>
          <p:nvPr/>
        </p:nvSpPr>
        <p:spPr>
          <a:xfrm>
            <a:off x="24045475" y="23258325"/>
            <a:ext cx="6080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sz="2800"/>
              <a:t>Figure 5.</a:t>
            </a:r>
            <a:r>
              <a:rPr i="1" lang="en-US" sz="2800"/>
              <a:t> Signal Generator Output</a:t>
            </a:r>
            <a:endParaRPr i="1" sz="1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search Poster Template">
  <a:themeElements>
    <a:clrScheme name="Custom 2">
      <a:dk1>
        <a:srgbClr val="333333"/>
      </a:dk1>
      <a:lt1>
        <a:srgbClr val="FFFFFF"/>
      </a:lt1>
      <a:dk2>
        <a:srgbClr val="5D0025"/>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2026-04-08T21:05:06Z</dcterms:created>
  <dc:creator>Lagoudas, Magdalini 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[{"isReadingOrderVerified":"true","pageNumber":0,"geomIndex":-1,"issueTypeId":"ReadingOrderIssue:PPTX","dismiss":false,"pageNumbers":[1],"coordinatesList":[[10.0,10.0,2.0,2.0]]},{"title":"Poster template for EPS","pageNumber":0,"geomIndex":-1,"issueTypeId":"MissingTitleIssue:PPTX","dismiss":false,"pageNumbers":[1],"coordinatesList":[[10.0,10.0,2.0,2.0]]}]</vt:lpwstr>
  </property>
  <property fmtid="{D5CDD505-2E9C-101B-9397-08002B2CF9AE}" pid="3" name="ReadingOrderVerifiedPages">
    <vt:lpwstr>1</vt:lpwstr>
  </property>
</Properties>
</file>